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Poppins Bold" charset="1" panose="00000800000000000000"/>
      <p:regular r:id="rId13"/>
    </p:embeddedFont>
    <p:embeddedFont>
      <p:font typeface="Inter Bold" charset="1" panose="02000503000000020004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jpe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8.png" Type="http://schemas.openxmlformats.org/officeDocument/2006/relationships/image"/><Relationship Id="rId4" Target="../media/image4.jpeg" Type="http://schemas.openxmlformats.org/officeDocument/2006/relationships/image"/><Relationship Id="rId5" Target="../media/image9.png" Type="http://schemas.openxmlformats.org/officeDocument/2006/relationships/image"/><Relationship Id="rId6" Target="../media/image10.png" Type="http://schemas.openxmlformats.org/officeDocument/2006/relationships/image"/><Relationship Id="rId7" Target="../media/image1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8.png" Type="http://schemas.openxmlformats.org/officeDocument/2006/relationships/image"/><Relationship Id="rId4" Target="../media/image4.jpeg" Type="http://schemas.openxmlformats.org/officeDocument/2006/relationships/image"/><Relationship Id="rId5" Target="../media/image12.png" Type="http://schemas.openxmlformats.org/officeDocument/2006/relationships/image"/><Relationship Id="rId6" Target="../media/image13.png" Type="http://schemas.openxmlformats.org/officeDocument/2006/relationships/image"/><Relationship Id="rId7" Target="../media/image14.png" Type="http://schemas.openxmlformats.org/officeDocument/2006/relationships/image"/><Relationship Id="rId8" Target="../media/image1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8.png" Type="http://schemas.openxmlformats.org/officeDocument/2006/relationships/image"/><Relationship Id="rId4" Target="../media/image4.jpeg" Type="http://schemas.openxmlformats.org/officeDocument/2006/relationships/image"/><Relationship Id="rId5" Target="../media/image1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8.png" Type="http://schemas.openxmlformats.org/officeDocument/2006/relationships/image"/><Relationship Id="rId4" Target="../media/image4.jpeg" Type="http://schemas.openxmlformats.org/officeDocument/2006/relationships/image"/><Relationship Id="rId5" Target="../media/image17.png" Type="http://schemas.openxmlformats.org/officeDocument/2006/relationships/image"/><Relationship Id="rId6" Target="../media/image18.png" Type="http://schemas.openxmlformats.org/officeDocument/2006/relationships/image"/><Relationship Id="rId7" Target="../media/image19.png" Type="http://schemas.openxmlformats.org/officeDocument/2006/relationships/image"/><Relationship Id="rId8" Target="../media/image2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6.png" Type="http://schemas.openxmlformats.org/officeDocument/2006/relationships/image"/><Relationship Id="rId2" Target="../media/image1.png" Type="http://schemas.openxmlformats.org/officeDocument/2006/relationships/image"/><Relationship Id="rId3" Target="../media/image8.png" Type="http://schemas.openxmlformats.org/officeDocument/2006/relationships/image"/><Relationship Id="rId4" Target="../media/image4.jpeg" Type="http://schemas.openxmlformats.org/officeDocument/2006/relationships/image"/><Relationship Id="rId5" Target="../media/image21.png" Type="http://schemas.openxmlformats.org/officeDocument/2006/relationships/image"/><Relationship Id="rId6" Target="../media/image22.png" Type="http://schemas.openxmlformats.org/officeDocument/2006/relationships/image"/><Relationship Id="rId7" Target="../media/image23.png" Type="http://schemas.openxmlformats.org/officeDocument/2006/relationships/image"/><Relationship Id="rId8" Target="../media/image24.png" Type="http://schemas.openxmlformats.org/officeDocument/2006/relationships/image"/><Relationship Id="rId9" Target="../media/image2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8.png" Type="http://schemas.openxmlformats.org/officeDocument/2006/relationships/image"/><Relationship Id="rId4" Target="../media/image4.jpeg" Type="http://schemas.openxmlformats.org/officeDocument/2006/relationships/image"/><Relationship Id="rId5" Target="../media/image27.png" Type="http://schemas.openxmlformats.org/officeDocument/2006/relationships/image"/><Relationship Id="rId6" Target="../media/image2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95250"/>
            <a:chOff x="0" y="0"/>
            <a:chExt cx="24384000" cy="127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27000"/>
            </a:xfrm>
            <a:custGeom>
              <a:avLst/>
              <a:gdLst/>
              <a:ahLst/>
              <a:cxnLst/>
              <a:rect r="r" b="b" t="t" l="l"/>
              <a:pathLst>
                <a:path h="127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27000"/>
                  </a:lnTo>
                  <a:lnTo>
                    <a:pt x="0" y="127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4097000" y="-1524000"/>
            <a:ext cx="4953000" cy="4953000"/>
            <a:chOff x="0" y="0"/>
            <a:chExt cx="6604000" cy="6604000"/>
          </a:xfrm>
        </p:grpSpPr>
        <p:sp>
          <p:nvSpPr>
            <p:cNvPr name="Freeform 5" id="5" descr="preencoded.png"/>
            <p:cNvSpPr/>
            <p:nvPr/>
          </p:nvSpPr>
          <p:spPr>
            <a:xfrm flipH="false" flipV="false" rot="0">
              <a:off x="0" y="0"/>
              <a:ext cx="6604000" cy="6604000"/>
            </a:xfrm>
            <a:custGeom>
              <a:avLst/>
              <a:gdLst/>
              <a:ahLst/>
              <a:cxnLst/>
              <a:rect r="r" b="b" t="t" l="l"/>
              <a:pathLst>
                <a:path h="6604000" w="6604000">
                  <a:moveTo>
                    <a:pt x="0" y="0"/>
                  </a:moveTo>
                  <a:lnTo>
                    <a:pt x="6604000" y="0"/>
                  </a:lnTo>
                  <a:lnTo>
                    <a:pt x="6604000" y="6604000"/>
                  </a:lnTo>
                  <a:lnTo>
                    <a:pt x="0" y="660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70000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47750" y="2857500"/>
            <a:ext cx="133350" cy="666750"/>
            <a:chOff x="0" y="0"/>
            <a:chExt cx="177800" cy="889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177800" cy="889000"/>
            </a:xfrm>
            <a:custGeom>
              <a:avLst/>
              <a:gdLst/>
              <a:ahLst/>
              <a:cxnLst/>
              <a:rect r="r" b="b" t="t" l="l"/>
              <a:pathLst>
                <a:path h="889000" w="177800">
                  <a:moveTo>
                    <a:pt x="0" y="0"/>
                  </a:moveTo>
                  <a:lnTo>
                    <a:pt x="177800" y="0"/>
                  </a:lnTo>
                  <a:lnTo>
                    <a:pt x="177800" y="889000"/>
                  </a:lnTo>
                  <a:lnTo>
                    <a:pt x="0" y="88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33500" y="2337587"/>
            <a:ext cx="9525000" cy="2805913"/>
            <a:chOff x="0" y="0"/>
            <a:chExt cx="12700000" cy="374121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700000" cy="3741217"/>
            </a:xfrm>
            <a:custGeom>
              <a:avLst/>
              <a:gdLst/>
              <a:ahLst/>
              <a:cxnLst/>
              <a:rect r="r" b="b" t="t" l="l"/>
              <a:pathLst>
                <a:path h="3741217" w="12700000">
                  <a:moveTo>
                    <a:pt x="0" y="0"/>
                  </a:moveTo>
                  <a:lnTo>
                    <a:pt x="12700000" y="0"/>
                  </a:lnTo>
                  <a:lnTo>
                    <a:pt x="12700000" y="3741217"/>
                  </a:lnTo>
                  <a:lnTo>
                    <a:pt x="0" y="374121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3386" r="0" b="1097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0"/>
              <a:ext cx="12700000" cy="38364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694"/>
                </a:lnSpc>
              </a:pPr>
              <a:r>
                <a:rPr lang="en-US" sz="6900" b="true">
                  <a:solidFill>
                    <a:srgbClr val="14285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Extreme Programming (XP)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428750" y="4979556"/>
            <a:ext cx="8182218" cy="1015426"/>
            <a:chOff x="0" y="0"/>
            <a:chExt cx="10668000" cy="132391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668000" cy="1323915"/>
            </a:xfrm>
            <a:custGeom>
              <a:avLst/>
              <a:gdLst/>
              <a:ahLst/>
              <a:cxnLst/>
              <a:rect r="r" b="b" t="t" l="l"/>
              <a:pathLst>
                <a:path h="1323915" w="10668000">
                  <a:moveTo>
                    <a:pt x="0" y="0"/>
                  </a:moveTo>
                  <a:lnTo>
                    <a:pt x="10668000" y="0"/>
                  </a:lnTo>
                  <a:lnTo>
                    <a:pt x="10668000" y="1323915"/>
                  </a:lnTo>
                  <a:lnTo>
                    <a:pt x="0" y="132391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21995" r="0" b="-92022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14300"/>
              <a:ext cx="10668000" cy="1438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32"/>
                </a:lnSpc>
              </a:pPr>
              <a:r>
                <a:rPr lang="en-US" sz="2400" b="true">
                  <a:solidFill>
                    <a:srgbClr val="4A5568"/>
                  </a:solidFill>
                  <a:latin typeface="Inter Bold"/>
                  <a:ea typeface="Inter Bold"/>
                  <a:cs typeface="Inter Bold"/>
                  <a:sym typeface="Inter Bold"/>
                </a:rPr>
                <a:t>Delivering better software through continuous feedback, collaboration &amp; rapid development.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1239500" y="2381250"/>
            <a:ext cx="5905500" cy="3810000"/>
            <a:chOff x="0" y="0"/>
            <a:chExt cx="7874000" cy="5080000"/>
          </a:xfrm>
        </p:grpSpPr>
        <p:sp>
          <p:nvSpPr>
            <p:cNvPr name="Freeform 15" id="15" descr="preencoded.png"/>
            <p:cNvSpPr/>
            <p:nvPr/>
          </p:nvSpPr>
          <p:spPr>
            <a:xfrm flipH="false" flipV="false" rot="0">
              <a:off x="0" y="0"/>
              <a:ext cx="7874000" cy="5080000"/>
            </a:xfrm>
            <a:custGeom>
              <a:avLst/>
              <a:gdLst/>
              <a:ahLst/>
              <a:cxnLst/>
              <a:rect r="r" b="b" t="t" l="l"/>
              <a:pathLst>
                <a:path h="5080000" w="7874000">
                  <a:moveTo>
                    <a:pt x="0" y="0"/>
                  </a:moveTo>
                  <a:lnTo>
                    <a:pt x="7874000" y="0"/>
                  </a:lnTo>
                  <a:lnTo>
                    <a:pt x="7874000" y="5080000"/>
                  </a:lnTo>
                  <a:lnTo>
                    <a:pt x="0" y="5080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27500" r="0" b="-2750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809750" y="7239000"/>
            <a:ext cx="3810000" cy="247650"/>
            <a:chOff x="0" y="0"/>
            <a:chExt cx="5080000" cy="3302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080000" cy="330200"/>
            </a:xfrm>
            <a:custGeom>
              <a:avLst/>
              <a:gdLst/>
              <a:ahLst/>
              <a:cxnLst/>
              <a:rect r="r" b="b" t="t" l="l"/>
              <a:pathLst>
                <a:path h="3302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330200"/>
                  </a:lnTo>
                  <a:lnTo>
                    <a:pt x="0" y="3302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49769" r="0" b="-249769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57150"/>
              <a:ext cx="5080000" cy="387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69"/>
                </a:lnSpc>
              </a:pPr>
              <a:r>
                <a:rPr lang="en-US" sz="2061" b="true">
                  <a:solidFill>
                    <a:srgbClr val="5F3DC4"/>
                  </a:solidFill>
                  <a:latin typeface="Inter Bold"/>
                  <a:ea typeface="Inter Bold"/>
                  <a:cs typeface="Inter Bold"/>
                  <a:sym typeface="Inter Bold"/>
                </a:rPr>
                <a:t>THE XP CYCLE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809750" y="7810500"/>
            <a:ext cx="2476500" cy="857250"/>
            <a:chOff x="0" y="0"/>
            <a:chExt cx="3302000" cy="1143000"/>
          </a:xfrm>
        </p:grpSpPr>
        <p:sp>
          <p:nvSpPr>
            <p:cNvPr name="Freeform 20" id="20" descr="preencoded.png"/>
            <p:cNvSpPr/>
            <p:nvPr/>
          </p:nvSpPr>
          <p:spPr>
            <a:xfrm flipH="false" flipV="false" rot="0">
              <a:off x="0" y="0"/>
              <a:ext cx="3302000" cy="1143000"/>
            </a:xfrm>
            <a:custGeom>
              <a:avLst/>
              <a:gdLst/>
              <a:ahLst/>
              <a:cxnLst/>
              <a:rect r="r" b="b" t="t" l="l"/>
              <a:pathLst>
                <a:path h="1143000" w="3302000">
                  <a:moveTo>
                    <a:pt x="0" y="0"/>
                  </a:moveTo>
                  <a:lnTo>
                    <a:pt x="3302000" y="0"/>
                  </a:lnTo>
                  <a:lnTo>
                    <a:pt x="3302000" y="1143000"/>
                  </a:lnTo>
                  <a:lnTo>
                    <a:pt x="0" y="1143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809750" y="8048625"/>
            <a:ext cx="2476500" cy="457200"/>
            <a:chOff x="0" y="0"/>
            <a:chExt cx="3302000" cy="6096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302000" cy="609600"/>
            </a:xfrm>
            <a:custGeom>
              <a:avLst/>
              <a:gdLst/>
              <a:ahLst/>
              <a:cxnLst/>
              <a:rect r="r" b="b" t="t" l="l"/>
              <a:pathLst>
                <a:path h="609600" w="3302000">
                  <a:moveTo>
                    <a:pt x="0" y="0"/>
                  </a:moveTo>
                  <a:lnTo>
                    <a:pt x="3302000" y="0"/>
                  </a:lnTo>
                  <a:lnTo>
                    <a:pt x="33020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5543" r="0" b="-55543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9050"/>
              <a:ext cx="3302000" cy="628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14285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Plan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4286250" y="8020050"/>
            <a:ext cx="571500" cy="571500"/>
            <a:chOff x="0" y="0"/>
            <a:chExt cx="762000" cy="7620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620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762000"/>
                  </a:lnTo>
                  <a:lnTo>
                    <a:pt x="0" y="762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0"/>
              <a:ext cx="762000" cy="762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3B5BDB"/>
                  </a:solidFill>
                  <a:latin typeface="Inter Bold"/>
                  <a:ea typeface="Inter Bold"/>
                  <a:cs typeface="Inter Bold"/>
                  <a:sym typeface="Inter Bold"/>
                </a:rPr>
                <a:t>→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4857750" y="7810500"/>
            <a:ext cx="2476500" cy="857250"/>
            <a:chOff x="0" y="0"/>
            <a:chExt cx="3302000" cy="1143000"/>
          </a:xfrm>
        </p:grpSpPr>
        <p:sp>
          <p:nvSpPr>
            <p:cNvPr name="Freeform 28" id="28" descr="preencoded.png"/>
            <p:cNvSpPr/>
            <p:nvPr/>
          </p:nvSpPr>
          <p:spPr>
            <a:xfrm flipH="false" flipV="false" rot="0">
              <a:off x="0" y="0"/>
              <a:ext cx="3302000" cy="1143000"/>
            </a:xfrm>
            <a:custGeom>
              <a:avLst/>
              <a:gdLst/>
              <a:ahLst/>
              <a:cxnLst/>
              <a:rect r="r" b="b" t="t" l="l"/>
              <a:pathLst>
                <a:path h="1143000" w="3302000">
                  <a:moveTo>
                    <a:pt x="0" y="0"/>
                  </a:moveTo>
                  <a:lnTo>
                    <a:pt x="3302000" y="0"/>
                  </a:lnTo>
                  <a:lnTo>
                    <a:pt x="3302000" y="1143000"/>
                  </a:lnTo>
                  <a:lnTo>
                    <a:pt x="0" y="1143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4857750" y="8048625"/>
            <a:ext cx="2476500" cy="457200"/>
            <a:chOff x="0" y="0"/>
            <a:chExt cx="3302000" cy="6096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302000" cy="609600"/>
            </a:xfrm>
            <a:custGeom>
              <a:avLst/>
              <a:gdLst/>
              <a:ahLst/>
              <a:cxnLst/>
              <a:rect r="r" b="b" t="t" l="l"/>
              <a:pathLst>
                <a:path h="609600" w="3302000">
                  <a:moveTo>
                    <a:pt x="0" y="0"/>
                  </a:moveTo>
                  <a:lnTo>
                    <a:pt x="3302000" y="0"/>
                  </a:lnTo>
                  <a:lnTo>
                    <a:pt x="33020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5543" r="0" b="-55543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19050"/>
              <a:ext cx="3302000" cy="628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14285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Code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7334250" y="8020050"/>
            <a:ext cx="571500" cy="571500"/>
            <a:chOff x="0" y="0"/>
            <a:chExt cx="762000" cy="7620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620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762000"/>
                  </a:lnTo>
                  <a:lnTo>
                    <a:pt x="0" y="762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0"/>
              <a:ext cx="762000" cy="762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3B5BDB"/>
                  </a:solidFill>
                  <a:latin typeface="Inter Bold"/>
                  <a:ea typeface="Inter Bold"/>
                  <a:cs typeface="Inter Bold"/>
                  <a:sym typeface="Inter Bold"/>
                </a:rPr>
                <a:t>→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7905750" y="7810500"/>
            <a:ext cx="2476500" cy="857250"/>
            <a:chOff x="0" y="0"/>
            <a:chExt cx="3302000" cy="1143000"/>
          </a:xfrm>
        </p:grpSpPr>
        <p:sp>
          <p:nvSpPr>
            <p:cNvPr name="Freeform 36" id="36" descr="preencoded.png"/>
            <p:cNvSpPr/>
            <p:nvPr/>
          </p:nvSpPr>
          <p:spPr>
            <a:xfrm flipH="false" flipV="false" rot="0">
              <a:off x="0" y="0"/>
              <a:ext cx="3302000" cy="1143000"/>
            </a:xfrm>
            <a:custGeom>
              <a:avLst/>
              <a:gdLst/>
              <a:ahLst/>
              <a:cxnLst/>
              <a:rect r="r" b="b" t="t" l="l"/>
              <a:pathLst>
                <a:path h="1143000" w="3302000">
                  <a:moveTo>
                    <a:pt x="0" y="0"/>
                  </a:moveTo>
                  <a:lnTo>
                    <a:pt x="3302000" y="0"/>
                  </a:lnTo>
                  <a:lnTo>
                    <a:pt x="3302000" y="1143000"/>
                  </a:lnTo>
                  <a:lnTo>
                    <a:pt x="0" y="1143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7905750" y="8048625"/>
            <a:ext cx="2476500" cy="457200"/>
            <a:chOff x="0" y="0"/>
            <a:chExt cx="3302000" cy="6096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3302000" cy="609600"/>
            </a:xfrm>
            <a:custGeom>
              <a:avLst/>
              <a:gdLst/>
              <a:ahLst/>
              <a:cxnLst/>
              <a:rect r="r" b="b" t="t" l="l"/>
              <a:pathLst>
                <a:path h="609600" w="3302000">
                  <a:moveTo>
                    <a:pt x="0" y="0"/>
                  </a:moveTo>
                  <a:lnTo>
                    <a:pt x="3302000" y="0"/>
                  </a:lnTo>
                  <a:lnTo>
                    <a:pt x="33020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5543" r="0" b="-55543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19050"/>
              <a:ext cx="3302000" cy="628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14285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Test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0382250" y="8020050"/>
            <a:ext cx="571500" cy="571500"/>
            <a:chOff x="0" y="0"/>
            <a:chExt cx="762000" cy="7620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7620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762000"/>
                  </a:lnTo>
                  <a:lnTo>
                    <a:pt x="0" y="762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0"/>
              <a:ext cx="762000" cy="762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3B5BDB"/>
                  </a:solidFill>
                  <a:latin typeface="Inter Bold"/>
                  <a:ea typeface="Inter Bold"/>
                  <a:cs typeface="Inter Bold"/>
                  <a:sym typeface="Inter Bold"/>
                </a:rPr>
                <a:t>→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0953750" y="7810500"/>
            <a:ext cx="2476500" cy="857250"/>
            <a:chOff x="0" y="0"/>
            <a:chExt cx="3302000" cy="1143000"/>
          </a:xfrm>
        </p:grpSpPr>
        <p:sp>
          <p:nvSpPr>
            <p:cNvPr name="Freeform 44" id="44" descr="preencoded.png"/>
            <p:cNvSpPr/>
            <p:nvPr/>
          </p:nvSpPr>
          <p:spPr>
            <a:xfrm flipH="false" flipV="false" rot="0">
              <a:off x="0" y="0"/>
              <a:ext cx="3302000" cy="1143000"/>
            </a:xfrm>
            <a:custGeom>
              <a:avLst/>
              <a:gdLst/>
              <a:ahLst/>
              <a:cxnLst/>
              <a:rect r="r" b="b" t="t" l="l"/>
              <a:pathLst>
                <a:path h="1143000" w="3302000">
                  <a:moveTo>
                    <a:pt x="0" y="0"/>
                  </a:moveTo>
                  <a:lnTo>
                    <a:pt x="3302000" y="0"/>
                  </a:lnTo>
                  <a:lnTo>
                    <a:pt x="3302000" y="1143000"/>
                  </a:lnTo>
                  <a:lnTo>
                    <a:pt x="0" y="1143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0953750" y="8048625"/>
            <a:ext cx="2476500" cy="457200"/>
            <a:chOff x="0" y="0"/>
            <a:chExt cx="3302000" cy="6096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3302000" cy="609600"/>
            </a:xfrm>
            <a:custGeom>
              <a:avLst/>
              <a:gdLst/>
              <a:ahLst/>
              <a:cxnLst/>
              <a:rect r="r" b="b" t="t" l="l"/>
              <a:pathLst>
                <a:path h="609600" w="3302000">
                  <a:moveTo>
                    <a:pt x="0" y="0"/>
                  </a:moveTo>
                  <a:lnTo>
                    <a:pt x="3302000" y="0"/>
                  </a:lnTo>
                  <a:lnTo>
                    <a:pt x="33020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5543" r="0" b="-55543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19050"/>
              <a:ext cx="3302000" cy="628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14285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Feedback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3430250" y="8020050"/>
            <a:ext cx="571500" cy="571500"/>
            <a:chOff x="0" y="0"/>
            <a:chExt cx="762000" cy="7620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7620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762000"/>
                  </a:lnTo>
                  <a:lnTo>
                    <a:pt x="0" y="762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0"/>
              <a:ext cx="762000" cy="762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3B5BDB"/>
                  </a:solidFill>
                  <a:latin typeface="Inter Bold"/>
                  <a:ea typeface="Inter Bold"/>
                  <a:cs typeface="Inter Bold"/>
                  <a:sym typeface="Inter Bold"/>
                </a:rPr>
                <a:t>→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4001750" y="7810500"/>
            <a:ext cx="2476500" cy="857250"/>
            <a:chOff x="0" y="0"/>
            <a:chExt cx="3302000" cy="1143000"/>
          </a:xfrm>
        </p:grpSpPr>
        <p:sp>
          <p:nvSpPr>
            <p:cNvPr name="Freeform 52" id="52" descr="preencoded.png"/>
            <p:cNvSpPr/>
            <p:nvPr/>
          </p:nvSpPr>
          <p:spPr>
            <a:xfrm flipH="false" flipV="false" rot="0">
              <a:off x="0" y="0"/>
              <a:ext cx="3302000" cy="1143000"/>
            </a:xfrm>
            <a:custGeom>
              <a:avLst/>
              <a:gdLst/>
              <a:ahLst/>
              <a:cxnLst/>
              <a:rect r="r" b="b" t="t" l="l"/>
              <a:pathLst>
                <a:path h="1143000" w="3302000">
                  <a:moveTo>
                    <a:pt x="0" y="0"/>
                  </a:moveTo>
                  <a:lnTo>
                    <a:pt x="3302000" y="0"/>
                  </a:lnTo>
                  <a:lnTo>
                    <a:pt x="3302000" y="1143000"/>
                  </a:lnTo>
                  <a:lnTo>
                    <a:pt x="0" y="1143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14001750" y="8048625"/>
            <a:ext cx="2476500" cy="457200"/>
            <a:chOff x="0" y="0"/>
            <a:chExt cx="3302000" cy="6096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3302000" cy="609600"/>
            </a:xfrm>
            <a:custGeom>
              <a:avLst/>
              <a:gdLst/>
              <a:ahLst/>
              <a:cxnLst/>
              <a:rect r="r" b="b" t="t" l="l"/>
              <a:pathLst>
                <a:path h="609600" w="3302000">
                  <a:moveTo>
                    <a:pt x="0" y="0"/>
                  </a:moveTo>
                  <a:lnTo>
                    <a:pt x="3302000" y="0"/>
                  </a:lnTo>
                  <a:lnTo>
                    <a:pt x="33020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5543" r="0" b="-55543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19050"/>
              <a:ext cx="3302000" cy="628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Improve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95250"/>
            <a:chOff x="0" y="0"/>
            <a:chExt cx="24384000" cy="127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27000"/>
            </a:xfrm>
            <a:custGeom>
              <a:avLst/>
              <a:gdLst/>
              <a:ahLst/>
              <a:cxnLst/>
              <a:rect r="r" b="b" t="t" l="l"/>
              <a:pathLst>
                <a:path h="127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27000"/>
                  </a:lnTo>
                  <a:lnTo>
                    <a:pt x="0" y="127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52500" y="714375"/>
            <a:ext cx="133350" cy="571500"/>
            <a:chOff x="0" y="0"/>
            <a:chExt cx="177800" cy="762000"/>
          </a:xfrm>
        </p:grpSpPr>
        <p:sp>
          <p:nvSpPr>
            <p:cNvPr name="Freeform 5" id="5" descr="preencoded.png"/>
            <p:cNvSpPr/>
            <p:nvPr/>
          </p:nvSpPr>
          <p:spPr>
            <a:xfrm flipH="false" flipV="false" rot="0">
              <a:off x="0" y="0"/>
              <a:ext cx="177800" cy="762000"/>
            </a:xfrm>
            <a:custGeom>
              <a:avLst/>
              <a:gdLst/>
              <a:ahLst/>
              <a:cxnLst/>
              <a:rect r="r" b="b" t="t" l="l"/>
              <a:pathLst>
                <a:path h="762000" w="177800">
                  <a:moveTo>
                    <a:pt x="0" y="0"/>
                  </a:moveTo>
                  <a:lnTo>
                    <a:pt x="177800" y="0"/>
                  </a:lnTo>
                  <a:lnTo>
                    <a:pt x="177800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333500" y="666750"/>
            <a:ext cx="11430000" cy="800100"/>
            <a:chOff x="0" y="0"/>
            <a:chExt cx="15240000" cy="1066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240000" cy="1066800"/>
            </a:xfrm>
            <a:custGeom>
              <a:avLst/>
              <a:gdLst/>
              <a:ahLst/>
              <a:cxnLst/>
              <a:rect r="r" b="b" t="t" l="l"/>
              <a:pathLst>
                <a:path h="1066800" w="15240000">
                  <a:moveTo>
                    <a:pt x="0" y="0"/>
                  </a:moveTo>
                  <a:lnTo>
                    <a:pt x="15240000" y="0"/>
                  </a:lnTo>
                  <a:lnTo>
                    <a:pt x="15240000" y="1066800"/>
                  </a:lnTo>
                  <a:lnTo>
                    <a:pt x="0" y="10668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28357" r="0" b="-228357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5240000" cy="1104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14285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What is Extreme Programming?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333500" y="1524000"/>
            <a:ext cx="8382000" cy="342900"/>
            <a:chOff x="0" y="0"/>
            <a:chExt cx="11176000" cy="4572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176000" cy="457200"/>
            </a:xfrm>
            <a:custGeom>
              <a:avLst/>
              <a:gdLst/>
              <a:ahLst/>
              <a:cxnLst/>
              <a:rect r="r" b="b" t="t" l="l"/>
              <a:pathLst>
                <a:path h="457200" w="11176000">
                  <a:moveTo>
                    <a:pt x="0" y="0"/>
                  </a:moveTo>
                  <a:lnTo>
                    <a:pt x="11176000" y="0"/>
                  </a:lnTo>
                  <a:lnTo>
                    <a:pt x="111760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26300" r="0" b="-42630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11176000" cy="466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4A5568"/>
                  </a:solidFill>
                  <a:latin typeface="Inter Bold"/>
                  <a:ea typeface="Inter Bold"/>
                  <a:cs typeface="Inter Bold"/>
                  <a:sym typeface="Inter Bold"/>
                </a:rPr>
                <a:t>A lightweight Agile method focused on delivering value fast.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409700" y="2266950"/>
            <a:ext cx="171450" cy="171450"/>
            <a:chOff x="0" y="0"/>
            <a:chExt cx="228600" cy="228600"/>
          </a:xfrm>
        </p:grpSpPr>
        <p:sp>
          <p:nvSpPr>
            <p:cNvPr name="Freeform 13" id="13" descr="preencoded.png"/>
            <p:cNvSpPr/>
            <p:nvPr/>
          </p:nvSpPr>
          <p:spPr>
            <a:xfrm flipH="false" flipV="false" rot="0">
              <a:off x="0" y="0"/>
              <a:ext cx="228600" cy="228600"/>
            </a:xfrm>
            <a:custGeom>
              <a:avLst/>
              <a:gdLst/>
              <a:ahLst/>
              <a:cxnLst/>
              <a:rect r="r" b="b" t="t" l="l"/>
              <a:pathLst>
                <a:path h="228600" w="228600">
                  <a:moveTo>
                    <a:pt x="0" y="0"/>
                  </a:moveTo>
                  <a:lnTo>
                    <a:pt x="228600" y="0"/>
                  </a:lnTo>
                  <a:lnTo>
                    <a:pt x="228600" y="228600"/>
                  </a:lnTo>
                  <a:lnTo>
                    <a:pt x="0" y="228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809750" y="2143125"/>
            <a:ext cx="7239000" cy="457200"/>
            <a:chOff x="0" y="0"/>
            <a:chExt cx="9652000" cy="6096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652000" cy="609600"/>
            </a:xfrm>
            <a:custGeom>
              <a:avLst/>
              <a:gdLst/>
              <a:ahLst/>
              <a:cxnLst/>
              <a:rect r="r" b="b" t="t" l="l"/>
              <a:pathLst>
                <a:path h="609600" w="9652000">
                  <a:moveTo>
                    <a:pt x="0" y="0"/>
                  </a:moveTo>
                  <a:lnTo>
                    <a:pt x="9652000" y="0"/>
                  </a:lnTo>
                  <a:lnTo>
                    <a:pt x="96520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58513" r="0" b="-258513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9050"/>
              <a:ext cx="9652000" cy="628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4285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Fast Development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809750" y="2552700"/>
            <a:ext cx="7239000" cy="342900"/>
            <a:chOff x="0" y="0"/>
            <a:chExt cx="9652000" cy="4572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652000" cy="457200"/>
            </a:xfrm>
            <a:custGeom>
              <a:avLst/>
              <a:gdLst/>
              <a:ahLst/>
              <a:cxnLst/>
              <a:rect r="r" b="b" t="t" l="l"/>
              <a:pathLst>
                <a:path h="457200" w="9652000">
                  <a:moveTo>
                    <a:pt x="0" y="0"/>
                  </a:moveTo>
                  <a:lnTo>
                    <a:pt x="9652000" y="0"/>
                  </a:lnTo>
                  <a:lnTo>
                    <a:pt x="96520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61350" r="0" b="-36135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"/>
              <a:ext cx="9652000" cy="466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4A5568"/>
                  </a:solidFill>
                  <a:latin typeface="Inter Bold"/>
                  <a:ea typeface="Inter Bold"/>
                  <a:cs typeface="Inter Bold"/>
                  <a:sym typeface="Inter Bold"/>
                </a:rPr>
                <a:t>Building software in small, quick steps.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409700" y="3219450"/>
            <a:ext cx="171450" cy="171450"/>
            <a:chOff x="0" y="0"/>
            <a:chExt cx="228600" cy="228600"/>
          </a:xfrm>
        </p:grpSpPr>
        <p:sp>
          <p:nvSpPr>
            <p:cNvPr name="Freeform 21" id="21" descr="preencoded.png"/>
            <p:cNvSpPr/>
            <p:nvPr/>
          </p:nvSpPr>
          <p:spPr>
            <a:xfrm flipH="false" flipV="false" rot="0">
              <a:off x="0" y="0"/>
              <a:ext cx="228600" cy="228600"/>
            </a:xfrm>
            <a:custGeom>
              <a:avLst/>
              <a:gdLst/>
              <a:ahLst/>
              <a:cxnLst/>
              <a:rect r="r" b="b" t="t" l="l"/>
              <a:pathLst>
                <a:path h="228600" w="228600">
                  <a:moveTo>
                    <a:pt x="0" y="0"/>
                  </a:moveTo>
                  <a:lnTo>
                    <a:pt x="228600" y="0"/>
                  </a:lnTo>
                  <a:lnTo>
                    <a:pt x="228600" y="228600"/>
                  </a:lnTo>
                  <a:lnTo>
                    <a:pt x="0" y="228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809750" y="3095625"/>
            <a:ext cx="7239000" cy="457200"/>
            <a:chOff x="0" y="0"/>
            <a:chExt cx="9652000" cy="6096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652000" cy="609600"/>
            </a:xfrm>
            <a:custGeom>
              <a:avLst/>
              <a:gdLst/>
              <a:ahLst/>
              <a:cxnLst/>
              <a:rect r="r" b="b" t="t" l="l"/>
              <a:pathLst>
                <a:path h="609600" w="9652000">
                  <a:moveTo>
                    <a:pt x="0" y="0"/>
                  </a:moveTo>
                  <a:lnTo>
                    <a:pt x="9652000" y="0"/>
                  </a:lnTo>
                  <a:lnTo>
                    <a:pt x="96520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58513" r="0" b="-258513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19050"/>
              <a:ext cx="9652000" cy="628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4285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Continuous Feedback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809750" y="3505200"/>
            <a:ext cx="7239000" cy="342900"/>
            <a:chOff x="0" y="0"/>
            <a:chExt cx="9652000" cy="4572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652000" cy="457200"/>
            </a:xfrm>
            <a:custGeom>
              <a:avLst/>
              <a:gdLst/>
              <a:ahLst/>
              <a:cxnLst/>
              <a:rect r="r" b="b" t="t" l="l"/>
              <a:pathLst>
                <a:path h="457200" w="9652000">
                  <a:moveTo>
                    <a:pt x="0" y="0"/>
                  </a:moveTo>
                  <a:lnTo>
                    <a:pt x="9652000" y="0"/>
                  </a:lnTo>
                  <a:lnTo>
                    <a:pt x="96520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61350" r="0" b="-36135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9525"/>
              <a:ext cx="9652000" cy="466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4A5568"/>
                  </a:solidFill>
                  <a:latin typeface="Inter Bold"/>
                  <a:ea typeface="Inter Bold"/>
                  <a:cs typeface="Inter Bold"/>
                  <a:sym typeface="Inter Bold"/>
                </a:rPr>
                <a:t>Getting frequent feedback from users.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409700" y="4171950"/>
            <a:ext cx="171450" cy="171450"/>
            <a:chOff x="0" y="0"/>
            <a:chExt cx="228600" cy="228600"/>
          </a:xfrm>
        </p:grpSpPr>
        <p:sp>
          <p:nvSpPr>
            <p:cNvPr name="Freeform 29" id="29" descr="preencoded.png"/>
            <p:cNvSpPr/>
            <p:nvPr/>
          </p:nvSpPr>
          <p:spPr>
            <a:xfrm flipH="false" flipV="false" rot="0">
              <a:off x="0" y="0"/>
              <a:ext cx="228600" cy="228600"/>
            </a:xfrm>
            <a:custGeom>
              <a:avLst/>
              <a:gdLst/>
              <a:ahLst/>
              <a:cxnLst/>
              <a:rect r="r" b="b" t="t" l="l"/>
              <a:pathLst>
                <a:path h="228600" w="228600">
                  <a:moveTo>
                    <a:pt x="0" y="0"/>
                  </a:moveTo>
                  <a:lnTo>
                    <a:pt x="228600" y="0"/>
                  </a:lnTo>
                  <a:lnTo>
                    <a:pt x="228600" y="228600"/>
                  </a:lnTo>
                  <a:lnTo>
                    <a:pt x="0" y="228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809750" y="4048125"/>
            <a:ext cx="7239000" cy="457200"/>
            <a:chOff x="0" y="0"/>
            <a:chExt cx="9652000" cy="6096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9652000" cy="609600"/>
            </a:xfrm>
            <a:custGeom>
              <a:avLst/>
              <a:gdLst/>
              <a:ahLst/>
              <a:cxnLst/>
              <a:rect r="r" b="b" t="t" l="l"/>
              <a:pathLst>
                <a:path h="609600" w="9652000">
                  <a:moveTo>
                    <a:pt x="0" y="0"/>
                  </a:moveTo>
                  <a:lnTo>
                    <a:pt x="9652000" y="0"/>
                  </a:lnTo>
                  <a:lnTo>
                    <a:pt x="96520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58513" r="0" b="-258513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19050"/>
              <a:ext cx="9652000" cy="628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4285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High Quality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809750" y="4457700"/>
            <a:ext cx="7239000" cy="342900"/>
            <a:chOff x="0" y="0"/>
            <a:chExt cx="9652000" cy="4572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9652000" cy="457200"/>
            </a:xfrm>
            <a:custGeom>
              <a:avLst/>
              <a:gdLst/>
              <a:ahLst/>
              <a:cxnLst/>
              <a:rect r="r" b="b" t="t" l="l"/>
              <a:pathLst>
                <a:path h="457200" w="9652000">
                  <a:moveTo>
                    <a:pt x="0" y="0"/>
                  </a:moveTo>
                  <a:lnTo>
                    <a:pt x="9652000" y="0"/>
                  </a:lnTo>
                  <a:lnTo>
                    <a:pt x="96520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61350" r="0" b="-36135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9525"/>
              <a:ext cx="9652000" cy="466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4A5568"/>
                  </a:solidFill>
                  <a:latin typeface="Inter Bold"/>
                  <a:ea typeface="Inter Bold"/>
                  <a:cs typeface="Inter Bold"/>
                  <a:sym typeface="Inter Bold"/>
                </a:rPr>
                <a:t>Continuous testing ensures reliability.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409700" y="5124450"/>
            <a:ext cx="171450" cy="171450"/>
            <a:chOff x="0" y="0"/>
            <a:chExt cx="228600" cy="228600"/>
          </a:xfrm>
        </p:grpSpPr>
        <p:sp>
          <p:nvSpPr>
            <p:cNvPr name="Freeform 37" id="37" descr="preencoded.png"/>
            <p:cNvSpPr/>
            <p:nvPr/>
          </p:nvSpPr>
          <p:spPr>
            <a:xfrm flipH="false" flipV="false" rot="0">
              <a:off x="0" y="0"/>
              <a:ext cx="228600" cy="228600"/>
            </a:xfrm>
            <a:custGeom>
              <a:avLst/>
              <a:gdLst/>
              <a:ahLst/>
              <a:cxnLst/>
              <a:rect r="r" b="b" t="t" l="l"/>
              <a:pathLst>
                <a:path h="228600" w="228600">
                  <a:moveTo>
                    <a:pt x="0" y="0"/>
                  </a:moveTo>
                  <a:lnTo>
                    <a:pt x="228600" y="0"/>
                  </a:lnTo>
                  <a:lnTo>
                    <a:pt x="228600" y="228600"/>
                  </a:lnTo>
                  <a:lnTo>
                    <a:pt x="0" y="228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809750" y="5000625"/>
            <a:ext cx="7239000" cy="457200"/>
            <a:chOff x="0" y="0"/>
            <a:chExt cx="9652000" cy="6096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9652000" cy="609600"/>
            </a:xfrm>
            <a:custGeom>
              <a:avLst/>
              <a:gdLst/>
              <a:ahLst/>
              <a:cxnLst/>
              <a:rect r="r" b="b" t="t" l="l"/>
              <a:pathLst>
                <a:path h="609600" w="9652000">
                  <a:moveTo>
                    <a:pt x="0" y="0"/>
                  </a:moveTo>
                  <a:lnTo>
                    <a:pt x="9652000" y="0"/>
                  </a:lnTo>
                  <a:lnTo>
                    <a:pt x="96520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58513" r="0" b="-258513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19050"/>
              <a:ext cx="9652000" cy="628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4285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Customer Collaboration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809750" y="5410200"/>
            <a:ext cx="7239000" cy="342900"/>
            <a:chOff x="0" y="0"/>
            <a:chExt cx="9652000" cy="4572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9652000" cy="457200"/>
            </a:xfrm>
            <a:custGeom>
              <a:avLst/>
              <a:gdLst/>
              <a:ahLst/>
              <a:cxnLst/>
              <a:rect r="r" b="b" t="t" l="l"/>
              <a:pathLst>
                <a:path h="457200" w="9652000">
                  <a:moveTo>
                    <a:pt x="0" y="0"/>
                  </a:moveTo>
                  <a:lnTo>
                    <a:pt x="9652000" y="0"/>
                  </a:lnTo>
                  <a:lnTo>
                    <a:pt x="96520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61350" r="0" b="-36135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9525"/>
              <a:ext cx="9652000" cy="466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4A5568"/>
                  </a:solidFill>
                  <a:latin typeface="Inter Bold"/>
                  <a:ea typeface="Inter Bold"/>
                  <a:cs typeface="Inter Bold"/>
                  <a:sym typeface="Inter Bold"/>
                </a:rPr>
                <a:t>Customers stay involved throughout.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409700" y="6076950"/>
            <a:ext cx="171450" cy="171450"/>
            <a:chOff x="0" y="0"/>
            <a:chExt cx="228600" cy="228600"/>
          </a:xfrm>
        </p:grpSpPr>
        <p:sp>
          <p:nvSpPr>
            <p:cNvPr name="Freeform 45" id="45" descr="preencoded.png"/>
            <p:cNvSpPr/>
            <p:nvPr/>
          </p:nvSpPr>
          <p:spPr>
            <a:xfrm flipH="false" flipV="false" rot="0">
              <a:off x="0" y="0"/>
              <a:ext cx="228600" cy="228600"/>
            </a:xfrm>
            <a:custGeom>
              <a:avLst/>
              <a:gdLst/>
              <a:ahLst/>
              <a:cxnLst/>
              <a:rect r="r" b="b" t="t" l="l"/>
              <a:pathLst>
                <a:path h="228600" w="228600">
                  <a:moveTo>
                    <a:pt x="0" y="0"/>
                  </a:moveTo>
                  <a:lnTo>
                    <a:pt x="228600" y="0"/>
                  </a:lnTo>
                  <a:lnTo>
                    <a:pt x="228600" y="228600"/>
                  </a:lnTo>
                  <a:lnTo>
                    <a:pt x="0" y="228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809750" y="5953125"/>
            <a:ext cx="7239000" cy="457200"/>
            <a:chOff x="0" y="0"/>
            <a:chExt cx="9652000" cy="6096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9652000" cy="609600"/>
            </a:xfrm>
            <a:custGeom>
              <a:avLst/>
              <a:gdLst/>
              <a:ahLst/>
              <a:cxnLst/>
              <a:rect r="r" b="b" t="t" l="l"/>
              <a:pathLst>
                <a:path h="609600" w="9652000">
                  <a:moveTo>
                    <a:pt x="0" y="0"/>
                  </a:moveTo>
                  <a:lnTo>
                    <a:pt x="9652000" y="0"/>
                  </a:lnTo>
                  <a:lnTo>
                    <a:pt x="96520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58513" r="0" b="-258513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19050"/>
              <a:ext cx="9652000" cy="628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4285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Teamwork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809750" y="6362700"/>
            <a:ext cx="7239000" cy="342900"/>
            <a:chOff x="0" y="0"/>
            <a:chExt cx="9652000" cy="4572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9652000" cy="457200"/>
            </a:xfrm>
            <a:custGeom>
              <a:avLst/>
              <a:gdLst/>
              <a:ahLst/>
              <a:cxnLst/>
              <a:rect r="r" b="b" t="t" l="l"/>
              <a:pathLst>
                <a:path h="457200" w="9652000">
                  <a:moveTo>
                    <a:pt x="0" y="0"/>
                  </a:moveTo>
                  <a:lnTo>
                    <a:pt x="9652000" y="0"/>
                  </a:lnTo>
                  <a:lnTo>
                    <a:pt x="96520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61350" r="0" b="-361350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9525"/>
              <a:ext cx="9652000" cy="466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4A5568"/>
                  </a:solidFill>
                  <a:latin typeface="Inter Bold"/>
                  <a:ea typeface="Inter Bold"/>
                  <a:cs typeface="Inter Bold"/>
                  <a:sym typeface="Inter Bold"/>
                </a:rPr>
                <a:t>Close collaboration between developers.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0953750" y="2047875"/>
            <a:ext cx="5905500" cy="5715000"/>
            <a:chOff x="0" y="0"/>
            <a:chExt cx="7874000" cy="7620000"/>
          </a:xfrm>
        </p:grpSpPr>
        <p:sp>
          <p:nvSpPr>
            <p:cNvPr name="Freeform 53" id="53" descr="preencoded.png"/>
            <p:cNvSpPr/>
            <p:nvPr/>
          </p:nvSpPr>
          <p:spPr>
            <a:xfrm flipH="false" flipV="false" rot="0">
              <a:off x="0" y="0"/>
              <a:ext cx="7874000" cy="7620000"/>
            </a:xfrm>
            <a:custGeom>
              <a:avLst/>
              <a:gdLst/>
              <a:ahLst/>
              <a:cxnLst/>
              <a:rect r="r" b="b" t="t" l="l"/>
              <a:pathLst>
                <a:path h="7620000" w="7874000">
                  <a:moveTo>
                    <a:pt x="0" y="0"/>
                  </a:moveTo>
                  <a:lnTo>
                    <a:pt x="7874000" y="0"/>
                  </a:lnTo>
                  <a:lnTo>
                    <a:pt x="7874000" y="7620000"/>
                  </a:lnTo>
                  <a:lnTo>
                    <a:pt x="0" y="7620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11144250" y="2333625"/>
            <a:ext cx="5524500" cy="427170"/>
            <a:chOff x="0" y="0"/>
            <a:chExt cx="7366000" cy="56956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7366000" cy="569560"/>
            </a:xfrm>
            <a:custGeom>
              <a:avLst/>
              <a:gdLst/>
              <a:ahLst/>
              <a:cxnLst/>
              <a:rect r="r" b="b" t="t" l="l"/>
              <a:pathLst>
                <a:path h="569560" w="7366000">
                  <a:moveTo>
                    <a:pt x="0" y="0"/>
                  </a:moveTo>
                  <a:lnTo>
                    <a:pt x="7366000" y="0"/>
                  </a:lnTo>
                  <a:lnTo>
                    <a:pt x="7366000" y="569560"/>
                  </a:lnTo>
                  <a:lnTo>
                    <a:pt x="0" y="5695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15204" r="0" b="-188787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9525"/>
              <a:ext cx="7366000" cy="5790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74"/>
                </a:lnSpc>
              </a:pPr>
              <a:r>
                <a:rPr lang="en-US" sz="2061" b="true">
                  <a:solidFill>
                    <a:srgbClr val="5F3DC4"/>
                  </a:solidFill>
                  <a:latin typeface="Inter Bold"/>
                  <a:ea typeface="Inter Bold"/>
                  <a:cs typeface="Inter Bold"/>
                  <a:sym typeface="Inter Bold"/>
                </a:rPr>
                <a:t>THE FEEDBACK CYCLE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1452413" y="2644978"/>
            <a:ext cx="5025837" cy="5117897"/>
            <a:chOff x="0" y="0"/>
            <a:chExt cx="7366000" cy="7500925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7366000" cy="7500925"/>
            </a:xfrm>
            <a:custGeom>
              <a:avLst/>
              <a:gdLst/>
              <a:ahLst/>
              <a:cxnLst/>
              <a:rect r="r" b="b" t="t" l="l"/>
              <a:pathLst>
                <a:path h="7500925" w="7366000">
                  <a:moveTo>
                    <a:pt x="0" y="0"/>
                  </a:moveTo>
                  <a:lnTo>
                    <a:pt x="7366000" y="0"/>
                  </a:lnTo>
                  <a:lnTo>
                    <a:pt x="7366000" y="7500925"/>
                  </a:lnTo>
                  <a:lnTo>
                    <a:pt x="0" y="750092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42467" t="0" r="-42467" b="29227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66675"/>
              <a:ext cx="7366000" cy="7567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11"/>
                </a:lnSpc>
              </a:pPr>
              <a:r>
                <a:rPr lang="en-US" sz="2400" b="true">
                  <a:solidFill>
                    <a:srgbClr val="14285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Plan</a:t>
              </a:r>
            </a:p>
            <a:p>
              <a:pPr algn="ctr">
                <a:lnSpc>
                  <a:spcPts val="3311"/>
                </a:lnSpc>
              </a:pPr>
              <a:r>
                <a:rPr lang="en-US" sz="2400" b="true">
                  <a:solidFill>
                    <a:srgbClr val="14285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↓</a:t>
              </a:r>
            </a:p>
            <a:p>
              <a:pPr algn="ctr">
                <a:lnSpc>
                  <a:spcPts val="3311"/>
                </a:lnSpc>
              </a:pPr>
              <a:r>
                <a:rPr lang="en-US" sz="2400" b="true">
                  <a:solidFill>
                    <a:srgbClr val="14285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Code</a:t>
              </a:r>
            </a:p>
            <a:p>
              <a:pPr algn="ctr">
                <a:lnSpc>
                  <a:spcPts val="3311"/>
                </a:lnSpc>
              </a:pPr>
              <a:r>
                <a:rPr lang="en-US" sz="2400" b="true">
                  <a:solidFill>
                    <a:srgbClr val="14285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↓</a:t>
              </a:r>
            </a:p>
            <a:p>
              <a:pPr algn="ctr">
                <a:lnSpc>
                  <a:spcPts val="3311"/>
                </a:lnSpc>
              </a:pPr>
              <a:r>
                <a:rPr lang="en-US" sz="2400" b="true">
                  <a:solidFill>
                    <a:srgbClr val="14285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Test</a:t>
              </a:r>
            </a:p>
            <a:p>
              <a:pPr algn="ctr">
                <a:lnSpc>
                  <a:spcPts val="3311"/>
                </a:lnSpc>
              </a:pPr>
              <a:r>
                <a:rPr lang="en-US" sz="2400" b="true">
                  <a:solidFill>
                    <a:srgbClr val="14285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↓</a:t>
              </a:r>
            </a:p>
            <a:p>
              <a:pPr algn="ctr">
                <a:lnSpc>
                  <a:spcPts val="3311"/>
                </a:lnSpc>
              </a:pPr>
              <a:r>
                <a:rPr lang="en-US" sz="2400" b="true">
                  <a:solidFill>
                    <a:srgbClr val="14285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Release</a:t>
              </a:r>
            </a:p>
            <a:p>
              <a:pPr algn="ctr">
                <a:lnSpc>
                  <a:spcPts val="3311"/>
                </a:lnSpc>
              </a:pPr>
              <a:r>
                <a:rPr lang="en-US" sz="2400" b="true">
                  <a:solidFill>
                    <a:srgbClr val="14285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↓</a:t>
              </a:r>
            </a:p>
            <a:p>
              <a:pPr algn="ctr">
                <a:lnSpc>
                  <a:spcPts val="3311"/>
                </a:lnSpc>
              </a:pPr>
              <a:r>
                <a:rPr lang="en-US" sz="2400" b="true">
                  <a:solidFill>
                    <a:srgbClr val="14285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Feedback</a:t>
              </a:r>
            </a:p>
            <a:p>
              <a:pPr algn="ctr">
                <a:lnSpc>
                  <a:spcPts val="3311"/>
                </a:lnSpc>
              </a:pPr>
              <a:r>
                <a:rPr lang="en-US" sz="2400" b="true">
                  <a:solidFill>
                    <a:srgbClr val="14285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↓</a:t>
              </a:r>
            </a:p>
            <a:p>
              <a:pPr algn="ctr">
                <a:lnSpc>
                  <a:spcPts val="3311"/>
                </a:lnSpc>
              </a:pPr>
              <a:r>
                <a:rPr lang="en-US" sz="2400" b="true">
                  <a:solidFill>
                    <a:srgbClr val="14285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Repeat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333500" y="8286750"/>
            <a:ext cx="15525750" cy="1238250"/>
            <a:chOff x="0" y="0"/>
            <a:chExt cx="20701000" cy="1651000"/>
          </a:xfrm>
        </p:grpSpPr>
        <p:sp>
          <p:nvSpPr>
            <p:cNvPr name="Freeform 61" id="61" descr="preencoded.png"/>
            <p:cNvSpPr/>
            <p:nvPr/>
          </p:nvSpPr>
          <p:spPr>
            <a:xfrm flipH="false" flipV="false" rot="0">
              <a:off x="0" y="0"/>
              <a:ext cx="20701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20701000">
                  <a:moveTo>
                    <a:pt x="0" y="0"/>
                  </a:moveTo>
                  <a:lnTo>
                    <a:pt x="20701000" y="0"/>
                  </a:lnTo>
                  <a:lnTo>
                    <a:pt x="20701000" y="1651000"/>
                  </a:lnTo>
                  <a:lnTo>
                    <a:pt x="0" y="165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1714500" y="8620125"/>
            <a:ext cx="14763750" cy="361950"/>
            <a:chOff x="0" y="0"/>
            <a:chExt cx="19685000" cy="48260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9685000" cy="482600"/>
            </a:xfrm>
            <a:custGeom>
              <a:avLst/>
              <a:gdLst/>
              <a:ahLst/>
              <a:cxnLst/>
              <a:rect r="r" b="b" t="t" l="l"/>
              <a:pathLst>
                <a:path h="482600" w="19685000">
                  <a:moveTo>
                    <a:pt x="0" y="0"/>
                  </a:moveTo>
                  <a:lnTo>
                    <a:pt x="19685000" y="0"/>
                  </a:lnTo>
                  <a:lnTo>
                    <a:pt x="19685000" y="482600"/>
                  </a:lnTo>
                  <a:lnTo>
                    <a:pt x="0" y="4826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44784" r="0" b="-744784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76200"/>
              <a:ext cx="19685000" cy="5588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56"/>
                </a:lnSpc>
              </a:pPr>
              <a:r>
                <a:rPr lang="en-US" sz="2400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XP = Small Releases + Continuous Testing + Customer Feedback + Team Collaboration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95250"/>
            <a:chOff x="0" y="0"/>
            <a:chExt cx="24384000" cy="127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27000"/>
            </a:xfrm>
            <a:custGeom>
              <a:avLst/>
              <a:gdLst/>
              <a:ahLst/>
              <a:cxnLst/>
              <a:rect r="r" b="b" t="t" l="l"/>
              <a:pathLst>
                <a:path h="127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27000"/>
                  </a:lnTo>
                  <a:lnTo>
                    <a:pt x="0" y="127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52500" y="714375"/>
            <a:ext cx="133350" cy="571500"/>
            <a:chOff x="0" y="0"/>
            <a:chExt cx="177800" cy="762000"/>
          </a:xfrm>
        </p:grpSpPr>
        <p:sp>
          <p:nvSpPr>
            <p:cNvPr name="Freeform 5" id="5" descr="preencoded.png"/>
            <p:cNvSpPr/>
            <p:nvPr/>
          </p:nvSpPr>
          <p:spPr>
            <a:xfrm flipH="false" flipV="false" rot="0">
              <a:off x="0" y="0"/>
              <a:ext cx="177800" cy="762000"/>
            </a:xfrm>
            <a:custGeom>
              <a:avLst/>
              <a:gdLst/>
              <a:ahLst/>
              <a:cxnLst/>
              <a:rect r="r" b="b" t="t" l="l"/>
              <a:pathLst>
                <a:path h="762000" w="177800">
                  <a:moveTo>
                    <a:pt x="0" y="0"/>
                  </a:moveTo>
                  <a:lnTo>
                    <a:pt x="177800" y="0"/>
                  </a:lnTo>
                  <a:lnTo>
                    <a:pt x="177800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333500" y="666750"/>
            <a:ext cx="11430000" cy="800100"/>
            <a:chOff x="0" y="0"/>
            <a:chExt cx="15240000" cy="1066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240000" cy="1066800"/>
            </a:xfrm>
            <a:custGeom>
              <a:avLst/>
              <a:gdLst/>
              <a:ahLst/>
              <a:cxnLst/>
              <a:rect r="r" b="b" t="t" l="l"/>
              <a:pathLst>
                <a:path h="1066800" w="15240000">
                  <a:moveTo>
                    <a:pt x="0" y="0"/>
                  </a:moveTo>
                  <a:lnTo>
                    <a:pt x="15240000" y="0"/>
                  </a:lnTo>
                  <a:lnTo>
                    <a:pt x="15240000" y="1066800"/>
                  </a:lnTo>
                  <a:lnTo>
                    <a:pt x="0" y="10668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28357" r="0" b="-228357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5240000" cy="1104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14285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Core Values of Extreme Programming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333500" y="1524000"/>
            <a:ext cx="11430000" cy="342900"/>
            <a:chOff x="0" y="0"/>
            <a:chExt cx="15240000" cy="4572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5240000" cy="457200"/>
            </a:xfrm>
            <a:custGeom>
              <a:avLst/>
              <a:gdLst/>
              <a:ahLst/>
              <a:cxnLst/>
              <a:rect r="r" b="b" t="t" l="l"/>
              <a:pathLst>
                <a:path h="457200" w="15240000">
                  <a:moveTo>
                    <a:pt x="0" y="0"/>
                  </a:moveTo>
                  <a:lnTo>
                    <a:pt x="15240000" y="0"/>
                  </a:lnTo>
                  <a:lnTo>
                    <a:pt x="152400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99501" r="0" b="-599501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15240000" cy="466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4A5568"/>
                  </a:solidFill>
                  <a:latin typeface="Inter Bold"/>
                  <a:ea typeface="Inter Bold"/>
                  <a:cs typeface="Inter Bold"/>
                  <a:sym typeface="Inter Bold"/>
                </a:rPr>
                <a:t>Five principles that guide every XP team.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62000" y="2857500"/>
            <a:ext cx="3048000" cy="5143500"/>
            <a:chOff x="0" y="0"/>
            <a:chExt cx="4064000" cy="6858000"/>
          </a:xfrm>
        </p:grpSpPr>
        <p:sp>
          <p:nvSpPr>
            <p:cNvPr name="Freeform 13" id="13" descr="preencoded.png"/>
            <p:cNvSpPr/>
            <p:nvPr/>
          </p:nvSpPr>
          <p:spPr>
            <a:xfrm flipH="false" flipV="false" rot="0">
              <a:off x="0" y="0"/>
              <a:ext cx="4064000" cy="6858000"/>
            </a:xfrm>
            <a:custGeom>
              <a:avLst/>
              <a:gdLst/>
              <a:ahLst/>
              <a:cxnLst/>
              <a:rect r="r" b="b" t="t" l="l"/>
              <a:pathLst>
                <a:path h="6858000" w="4064000">
                  <a:moveTo>
                    <a:pt x="0" y="0"/>
                  </a:moveTo>
                  <a:lnTo>
                    <a:pt x="4064000" y="0"/>
                  </a:lnTo>
                  <a:lnTo>
                    <a:pt x="406400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809750" y="3333750"/>
            <a:ext cx="952500" cy="952500"/>
            <a:chOff x="0" y="0"/>
            <a:chExt cx="1270000" cy="1270000"/>
          </a:xfrm>
        </p:grpSpPr>
        <p:sp>
          <p:nvSpPr>
            <p:cNvPr name="Freeform 15" id="15" descr="preencoded.png"/>
            <p:cNvSpPr/>
            <p:nvPr/>
          </p:nvSpPr>
          <p:spPr>
            <a:xfrm flipH="false" flipV="false" rot="0">
              <a:off x="0" y="0"/>
              <a:ext cx="1270000" cy="1270000"/>
            </a:xfrm>
            <a:custGeom>
              <a:avLst/>
              <a:gdLst/>
              <a:ahLst/>
              <a:cxnLst/>
              <a:rect r="r" b="b" t="t" l="l"/>
              <a:pathLst>
                <a:path h="1270000" w="1270000">
                  <a:moveTo>
                    <a:pt x="0" y="0"/>
                  </a:moveTo>
                  <a:lnTo>
                    <a:pt x="1270000" y="0"/>
                  </a:lnTo>
                  <a:lnTo>
                    <a:pt x="1270000" y="1270000"/>
                  </a:lnTo>
                  <a:lnTo>
                    <a:pt x="0" y="1270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809750" y="3543300"/>
            <a:ext cx="952500" cy="628650"/>
            <a:chOff x="0" y="0"/>
            <a:chExt cx="1270000" cy="8382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270000" cy="838200"/>
            </a:xfrm>
            <a:custGeom>
              <a:avLst/>
              <a:gdLst/>
              <a:ahLst/>
              <a:cxnLst/>
              <a:rect r="r" b="b" t="t" l="l"/>
              <a:pathLst>
                <a:path h="838200" w="1270000">
                  <a:moveTo>
                    <a:pt x="0" y="0"/>
                  </a:moveTo>
                  <a:lnTo>
                    <a:pt x="1270000" y="0"/>
                  </a:lnTo>
                  <a:lnTo>
                    <a:pt x="1270000" y="838200"/>
                  </a:lnTo>
                  <a:lnTo>
                    <a:pt x="0" y="838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4680" t="0" r="-34680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9525"/>
              <a:ext cx="1270000" cy="847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3B5BDB"/>
                  </a:solidFill>
                  <a:latin typeface="Inter Bold"/>
                  <a:ea typeface="Inter Bold"/>
                  <a:cs typeface="Inter Bold"/>
                  <a:sym typeface="Inter Bold"/>
                </a:rPr>
                <a:t>💬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52500" y="4667250"/>
            <a:ext cx="2667000" cy="428625"/>
            <a:chOff x="0" y="0"/>
            <a:chExt cx="3556000" cy="5715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556000" cy="571500"/>
            </a:xfrm>
            <a:custGeom>
              <a:avLst/>
              <a:gdLst/>
              <a:ahLst/>
              <a:cxnLst/>
              <a:rect r="r" b="b" t="t" l="l"/>
              <a:pathLst>
                <a:path h="571500" w="3556000">
                  <a:moveTo>
                    <a:pt x="0" y="0"/>
                  </a:moveTo>
                  <a:lnTo>
                    <a:pt x="3556000" y="0"/>
                  </a:lnTo>
                  <a:lnTo>
                    <a:pt x="3556000" y="571500"/>
                  </a:lnTo>
                  <a:lnTo>
                    <a:pt x="0" y="5715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1240" r="0" b="-7124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9050"/>
              <a:ext cx="3556000" cy="590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14285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Communication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047750" y="5334000"/>
            <a:ext cx="2476500" cy="1385112"/>
            <a:chOff x="0" y="0"/>
            <a:chExt cx="3302000" cy="184681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302000" cy="1846816"/>
            </a:xfrm>
            <a:custGeom>
              <a:avLst/>
              <a:gdLst/>
              <a:ahLst/>
              <a:cxnLst/>
              <a:rect r="r" b="b" t="t" l="l"/>
              <a:pathLst>
                <a:path h="1846816" w="3302000">
                  <a:moveTo>
                    <a:pt x="0" y="0"/>
                  </a:moveTo>
                  <a:lnTo>
                    <a:pt x="3302000" y="0"/>
                  </a:lnTo>
                  <a:lnTo>
                    <a:pt x="3302000" y="1846816"/>
                  </a:lnTo>
                  <a:lnTo>
                    <a:pt x="0" y="184681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486" r="0" b="31809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95250"/>
              <a:ext cx="3302000" cy="19420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45"/>
                </a:lnSpc>
              </a:pPr>
              <a:r>
                <a:rPr lang="en-US" sz="2250" b="true">
                  <a:solidFill>
                    <a:srgbClr val="4A5568"/>
                  </a:solidFill>
                  <a:latin typeface="Inter Bold"/>
                  <a:ea typeface="Inter Bold"/>
                  <a:cs typeface="Inter Bold"/>
                  <a:sym typeface="Inter Bold"/>
                </a:rPr>
                <a:t>Share ideas openly across the whole team.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4191000" y="2857500"/>
            <a:ext cx="3048000" cy="5143500"/>
            <a:chOff x="0" y="0"/>
            <a:chExt cx="4064000" cy="6858000"/>
          </a:xfrm>
        </p:grpSpPr>
        <p:sp>
          <p:nvSpPr>
            <p:cNvPr name="Freeform 26" id="26" descr="preencoded.png"/>
            <p:cNvSpPr/>
            <p:nvPr/>
          </p:nvSpPr>
          <p:spPr>
            <a:xfrm flipH="false" flipV="false" rot="0">
              <a:off x="0" y="0"/>
              <a:ext cx="4064000" cy="6858000"/>
            </a:xfrm>
            <a:custGeom>
              <a:avLst/>
              <a:gdLst/>
              <a:ahLst/>
              <a:cxnLst/>
              <a:rect r="r" b="b" t="t" l="l"/>
              <a:pathLst>
                <a:path h="6858000" w="4064000">
                  <a:moveTo>
                    <a:pt x="0" y="0"/>
                  </a:moveTo>
                  <a:lnTo>
                    <a:pt x="4064000" y="0"/>
                  </a:lnTo>
                  <a:lnTo>
                    <a:pt x="406400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5238750" y="3333750"/>
            <a:ext cx="952500" cy="952500"/>
            <a:chOff x="0" y="0"/>
            <a:chExt cx="1270000" cy="1270000"/>
          </a:xfrm>
        </p:grpSpPr>
        <p:sp>
          <p:nvSpPr>
            <p:cNvPr name="Freeform 28" id="28" descr="preencoded.png"/>
            <p:cNvSpPr/>
            <p:nvPr/>
          </p:nvSpPr>
          <p:spPr>
            <a:xfrm flipH="false" flipV="false" rot="0">
              <a:off x="0" y="0"/>
              <a:ext cx="1270000" cy="1270000"/>
            </a:xfrm>
            <a:custGeom>
              <a:avLst/>
              <a:gdLst/>
              <a:ahLst/>
              <a:cxnLst/>
              <a:rect r="r" b="b" t="t" l="l"/>
              <a:pathLst>
                <a:path h="1270000" w="1270000">
                  <a:moveTo>
                    <a:pt x="0" y="0"/>
                  </a:moveTo>
                  <a:lnTo>
                    <a:pt x="1270000" y="0"/>
                  </a:lnTo>
                  <a:lnTo>
                    <a:pt x="1270000" y="1270000"/>
                  </a:lnTo>
                  <a:lnTo>
                    <a:pt x="0" y="1270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5238750" y="3543300"/>
            <a:ext cx="952500" cy="628650"/>
            <a:chOff x="0" y="0"/>
            <a:chExt cx="1270000" cy="8382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270000" cy="838200"/>
            </a:xfrm>
            <a:custGeom>
              <a:avLst/>
              <a:gdLst/>
              <a:ahLst/>
              <a:cxnLst/>
              <a:rect r="r" b="b" t="t" l="l"/>
              <a:pathLst>
                <a:path h="838200" w="1270000">
                  <a:moveTo>
                    <a:pt x="0" y="0"/>
                  </a:moveTo>
                  <a:lnTo>
                    <a:pt x="1270000" y="0"/>
                  </a:lnTo>
                  <a:lnTo>
                    <a:pt x="1270000" y="838200"/>
                  </a:lnTo>
                  <a:lnTo>
                    <a:pt x="0" y="838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4680" t="0" r="-34680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9525"/>
              <a:ext cx="1270000" cy="847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3B5BDB"/>
                  </a:solidFill>
                  <a:latin typeface="Inter Bold"/>
                  <a:ea typeface="Inter Bold"/>
                  <a:cs typeface="Inter Bold"/>
                  <a:sym typeface="Inter Bold"/>
                </a:rPr>
                <a:t>✨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4381500" y="4667250"/>
            <a:ext cx="2667000" cy="428625"/>
            <a:chOff x="0" y="0"/>
            <a:chExt cx="3556000" cy="5715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556000" cy="571500"/>
            </a:xfrm>
            <a:custGeom>
              <a:avLst/>
              <a:gdLst/>
              <a:ahLst/>
              <a:cxnLst/>
              <a:rect r="r" b="b" t="t" l="l"/>
              <a:pathLst>
                <a:path h="571500" w="3556000">
                  <a:moveTo>
                    <a:pt x="0" y="0"/>
                  </a:moveTo>
                  <a:lnTo>
                    <a:pt x="3556000" y="0"/>
                  </a:lnTo>
                  <a:lnTo>
                    <a:pt x="3556000" y="571500"/>
                  </a:lnTo>
                  <a:lnTo>
                    <a:pt x="0" y="5715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1240" r="0" b="-7124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19050"/>
              <a:ext cx="3556000" cy="590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14285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Simplicity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4476750" y="5334000"/>
            <a:ext cx="2476500" cy="1385112"/>
            <a:chOff x="0" y="0"/>
            <a:chExt cx="3302000" cy="184681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3302000" cy="1846816"/>
            </a:xfrm>
            <a:custGeom>
              <a:avLst/>
              <a:gdLst/>
              <a:ahLst/>
              <a:cxnLst/>
              <a:rect r="r" b="b" t="t" l="l"/>
              <a:pathLst>
                <a:path h="1846816" w="3302000">
                  <a:moveTo>
                    <a:pt x="0" y="0"/>
                  </a:moveTo>
                  <a:lnTo>
                    <a:pt x="3302000" y="0"/>
                  </a:lnTo>
                  <a:lnTo>
                    <a:pt x="3302000" y="1846816"/>
                  </a:lnTo>
                  <a:lnTo>
                    <a:pt x="0" y="184681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488" r="0" b="42812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95250"/>
              <a:ext cx="3302000" cy="19420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45"/>
                </a:lnSpc>
              </a:pPr>
              <a:r>
                <a:rPr lang="en-US" sz="2250" b="true">
                  <a:solidFill>
                    <a:srgbClr val="4A5568"/>
                  </a:solidFill>
                  <a:latin typeface="Inter Bold"/>
                  <a:ea typeface="Inter Bold"/>
                  <a:cs typeface="Inter Bold"/>
                  <a:sym typeface="Inter Bold"/>
                </a:rPr>
                <a:t>Build only what is needed right now.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7620000" y="2857500"/>
            <a:ext cx="3048000" cy="5143500"/>
            <a:chOff x="0" y="0"/>
            <a:chExt cx="4064000" cy="6858000"/>
          </a:xfrm>
        </p:grpSpPr>
        <p:sp>
          <p:nvSpPr>
            <p:cNvPr name="Freeform 39" id="39" descr="preencoded.png"/>
            <p:cNvSpPr/>
            <p:nvPr/>
          </p:nvSpPr>
          <p:spPr>
            <a:xfrm flipH="false" flipV="false" rot="0">
              <a:off x="0" y="0"/>
              <a:ext cx="4064000" cy="6858000"/>
            </a:xfrm>
            <a:custGeom>
              <a:avLst/>
              <a:gdLst/>
              <a:ahLst/>
              <a:cxnLst/>
              <a:rect r="r" b="b" t="t" l="l"/>
              <a:pathLst>
                <a:path h="6858000" w="4064000">
                  <a:moveTo>
                    <a:pt x="0" y="0"/>
                  </a:moveTo>
                  <a:lnTo>
                    <a:pt x="4064000" y="0"/>
                  </a:lnTo>
                  <a:lnTo>
                    <a:pt x="406400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8667750" y="3333750"/>
            <a:ext cx="952500" cy="952500"/>
            <a:chOff x="0" y="0"/>
            <a:chExt cx="1270000" cy="1270000"/>
          </a:xfrm>
        </p:grpSpPr>
        <p:sp>
          <p:nvSpPr>
            <p:cNvPr name="Freeform 41" id="41" descr="preencoded.png"/>
            <p:cNvSpPr/>
            <p:nvPr/>
          </p:nvSpPr>
          <p:spPr>
            <a:xfrm flipH="false" flipV="false" rot="0">
              <a:off x="0" y="0"/>
              <a:ext cx="1270000" cy="1270000"/>
            </a:xfrm>
            <a:custGeom>
              <a:avLst/>
              <a:gdLst/>
              <a:ahLst/>
              <a:cxnLst/>
              <a:rect r="r" b="b" t="t" l="l"/>
              <a:pathLst>
                <a:path h="1270000" w="1270000">
                  <a:moveTo>
                    <a:pt x="0" y="0"/>
                  </a:moveTo>
                  <a:lnTo>
                    <a:pt x="1270000" y="0"/>
                  </a:lnTo>
                  <a:lnTo>
                    <a:pt x="1270000" y="1270000"/>
                  </a:lnTo>
                  <a:lnTo>
                    <a:pt x="0" y="1270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alphaModFix amt="25000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8667750" y="3543300"/>
            <a:ext cx="952500" cy="628650"/>
            <a:chOff x="0" y="0"/>
            <a:chExt cx="1270000" cy="8382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270000" cy="838200"/>
            </a:xfrm>
            <a:custGeom>
              <a:avLst/>
              <a:gdLst/>
              <a:ahLst/>
              <a:cxnLst/>
              <a:rect r="r" b="b" t="t" l="l"/>
              <a:pathLst>
                <a:path h="838200" w="1270000">
                  <a:moveTo>
                    <a:pt x="0" y="0"/>
                  </a:moveTo>
                  <a:lnTo>
                    <a:pt x="1270000" y="0"/>
                  </a:lnTo>
                  <a:lnTo>
                    <a:pt x="1270000" y="838200"/>
                  </a:lnTo>
                  <a:lnTo>
                    <a:pt x="0" y="838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4680" t="0" r="-34680" b="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9525"/>
              <a:ext cx="1270000" cy="847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🔄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7810500" y="4667250"/>
            <a:ext cx="2667000" cy="428625"/>
            <a:chOff x="0" y="0"/>
            <a:chExt cx="3556000" cy="5715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3556000" cy="571500"/>
            </a:xfrm>
            <a:custGeom>
              <a:avLst/>
              <a:gdLst/>
              <a:ahLst/>
              <a:cxnLst/>
              <a:rect r="r" b="b" t="t" l="l"/>
              <a:pathLst>
                <a:path h="571500" w="3556000">
                  <a:moveTo>
                    <a:pt x="0" y="0"/>
                  </a:moveTo>
                  <a:lnTo>
                    <a:pt x="3556000" y="0"/>
                  </a:lnTo>
                  <a:lnTo>
                    <a:pt x="3556000" y="571500"/>
                  </a:lnTo>
                  <a:lnTo>
                    <a:pt x="0" y="5715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1240" r="0" b="-7124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19050"/>
              <a:ext cx="3556000" cy="590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Feedback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7905750" y="5334000"/>
            <a:ext cx="2476500" cy="1085798"/>
            <a:chOff x="0" y="0"/>
            <a:chExt cx="3302000" cy="1447731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302000" cy="1447731"/>
            </a:xfrm>
            <a:custGeom>
              <a:avLst/>
              <a:gdLst/>
              <a:ahLst/>
              <a:cxnLst/>
              <a:rect r="r" b="b" t="t" l="l"/>
              <a:pathLst>
                <a:path h="1447731" w="3302000">
                  <a:moveTo>
                    <a:pt x="0" y="0"/>
                  </a:moveTo>
                  <a:lnTo>
                    <a:pt x="3302000" y="0"/>
                  </a:lnTo>
                  <a:lnTo>
                    <a:pt x="3302000" y="1447731"/>
                  </a:lnTo>
                  <a:lnTo>
                    <a:pt x="0" y="144773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5931" r="0" b="27048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95250"/>
              <a:ext cx="3302000" cy="15429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45"/>
                </a:lnSpc>
              </a:pPr>
              <a:r>
                <a:rPr lang="en-US" sz="2250" b="true">
                  <a:solidFill>
                    <a:srgbClr val="F0F2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Learn quickly from real results.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1049000" y="2857500"/>
            <a:ext cx="3048000" cy="5143500"/>
            <a:chOff x="0" y="0"/>
            <a:chExt cx="4064000" cy="6858000"/>
          </a:xfrm>
        </p:grpSpPr>
        <p:sp>
          <p:nvSpPr>
            <p:cNvPr name="Freeform 52" id="52" descr="preencoded.png"/>
            <p:cNvSpPr/>
            <p:nvPr/>
          </p:nvSpPr>
          <p:spPr>
            <a:xfrm flipH="false" flipV="false" rot="0">
              <a:off x="0" y="0"/>
              <a:ext cx="4064000" cy="6858000"/>
            </a:xfrm>
            <a:custGeom>
              <a:avLst/>
              <a:gdLst/>
              <a:ahLst/>
              <a:cxnLst/>
              <a:rect r="r" b="b" t="t" l="l"/>
              <a:pathLst>
                <a:path h="6858000" w="4064000">
                  <a:moveTo>
                    <a:pt x="0" y="0"/>
                  </a:moveTo>
                  <a:lnTo>
                    <a:pt x="4064000" y="0"/>
                  </a:lnTo>
                  <a:lnTo>
                    <a:pt x="406400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12096750" y="3333750"/>
            <a:ext cx="952500" cy="952500"/>
            <a:chOff x="0" y="0"/>
            <a:chExt cx="1270000" cy="1270000"/>
          </a:xfrm>
        </p:grpSpPr>
        <p:sp>
          <p:nvSpPr>
            <p:cNvPr name="Freeform 54" id="54" descr="preencoded.png"/>
            <p:cNvSpPr/>
            <p:nvPr/>
          </p:nvSpPr>
          <p:spPr>
            <a:xfrm flipH="false" flipV="false" rot="0">
              <a:off x="0" y="0"/>
              <a:ext cx="1270000" cy="1270000"/>
            </a:xfrm>
            <a:custGeom>
              <a:avLst/>
              <a:gdLst/>
              <a:ahLst/>
              <a:cxnLst/>
              <a:rect r="r" b="b" t="t" l="l"/>
              <a:pathLst>
                <a:path h="1270000" w="1270000">
                  <a:moveTo>
                    <a:pt x="0" y="0"/>
                  </a:moveTo>
                  <a:lnTo>
                    <a:pt x="1270000" y="0"/>
                  </a:lnTo>
                  <a:lnTo>
                    <a:pt x="1270000" y="1270000"/>
                  </a:lnTo>
                  <a:lnTo>
                    <a:pt x="0" y="1270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12096750" y="3543300"/>
            <a:ext cx="952500" cy="628650"/>
            <a:chOff x="0" y="0"/>
            <a:chExt cx="1270000" cy="83820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270000" cy="838200"/>
            </a:xfrm>
            <a:custGeom>
              <a:avLst/>
              <a:gdLst/>
              <a:ahLst/>
              <a:cxnLst/>
              <a:rect r="r" b="b" t="t" l="l"/>
              <a:pathLst>
                <a:path h="838200" w="1270000">
                  <a:moveTo>
                    <a:pt x="0" y="0"/>
                  </a:moveTo>
                  <a:lnTo>
                    <a:pt x="1270000" y="0"/>
                  </a:lnTo>
                  <a:lnTo>
                    <a:pt x="1270000" y="838200"/>
                  </a:lnTo>
                  <a:lnTo>
                    <a:pt x="0" y="838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4680" t="0" r="-34680" b="0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9525"/>
              <a:ext cx="1270000" cy="847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3B5BDB"/>
                  </a:solidFill>
                  <a:latin typeface="Inter Bold"/>
                  <a:ea typeface="Inter Bold"/>
                  <a:cs typeface="Inter Bold"/>
                  <a:sym typeface="Inter Bold"/>
                </a:rPr>
                <a:t>🦁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1239500" y="4667250"/>
            <a:ext cx="2667000" cy="428625"/>
            <a:chOff x="0" y="0"/>
            <a:chExt cx="3556000" cy="57150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3556000" cy="571500"/>
            </a:xfrm>
            <a:custGeom>
              <a:avLst/>
              <a:gdLst/>
              <a:ahLst/>
              <a:cxnLst/>
              <a:rect r="r" b="b" t="t" l="l"/>
              <a:pathLst>
                <a:path h="571500" w="3556000">
                  <a:moveTo>
                    <a:pt x="0" y="0"/>
                  </a:moveTo>
                  <a:lnTo>
                    <a:pt x="3556000" y="0"/>
                  </a:lnTo>
                  <a:lnTo>
                    <a:pt x="3556000" y="571500"/>
                  </a:lnTo>
                  <a:lnTo>
                    <a:pt x="0" y="5715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1240" r="0" b="-71240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19050"/>
              <a:ext cx="3556000" cy="590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14285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Courage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1334750" y="5334000"/>
            <a:ext cx="2476500" cy="1385112"/>
            <a:chOff x="0" y="0"/>
            <a:chExt cx="3302000" cy="1846816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3302000" cy="1846816"/>
            </a:xfrm>
            <a:custGeom>
              <a:avLst/>
              <a:gdLst/>
              <a:ahLst/>
              <a:cxnLst/>
              <a:rect r="r" b="b" t="t" l="l"/>
              <a:pathLst>
                <a:path h="1846816" w="3302000">
                  <a:moveTo>
                    <a:pt x="0" y="0"/>
                  </a:moveTo>
                  <a:lnTo>
                    <a:pt x="3302000" y="0"/>
                  </a:lnTo>
                  <a:lnTo>
                    <a:pt x="3302000" y="1846816"/>
                  </a:lnTo>
                  <a:lnTo>
                    <a:pt x="0" y="184681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488" r="0" b="42812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95250"/>
              <a:ext cx="3302000" cy="19420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45"/>
                </a:lnSpc>
              </a:pPr>
              <a:r>
                <a:rPr lang="en-US" sz="2250" b="true">
                  <a:solidFill>
                    <a:srgbClr val="4A5568"/>
                  </a:solidFill>
                  <a:latin typeface="Inter Bold"/>
                  <a:ea typeface="Inter Bold"/>
                  <a:cs typeface="Inter Bold"/>
                  <a:sym typeface="Inter Bold"/>
                </a:rPr>
                <a:t>Embrace change and tough decisions.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14478000" y="2857500"/>
            <a:ext cx="3048000" cy="5143500"/>
            <a:chOff x="0" y="0"/>
            <a:chExt cx="4064000" cy="6858000"/>
          </a:xfrm>
        </p:grpSpPr>
        <p:sp>
          <p:nvSpPr>
            <p:cNvPr name="Freeform 65" id="65" descr="preencoded.png"/>
            <p:cNvSpPr/>
            <p:nvPr/>
          </p:nvSpPr>
          <p:spPr>
            <a:xfrm flipH="false" flipV="false" rot="0">
              <a:off x="0" y="0"/>
              <a:ext cx="4064000" cy="6858000"/>
            </a:xfrm>
            <a:custGeom>
              <a:avLst/>
              <a:gdLst/>
              <a:ahLst/>
              <a:cxnLst/>
              <a:rect r="r" b="b" t="t" l="l"/>
              <a:pathLst>
                <a:path h="6858000" w="4064000">
                  <a:moveTo>
                    <a:pt x="0" y="0"/>
                  </a:moveTo>
                  <a:lnTo>
                    <a:pt x="4064000" y="0"/>
                  </a:lnTo>
                  <a:lnTo>
                    <a:pt x="406400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15525750" y="3333750"/>
            <a:ext cx="952500" cy="952500"/>
            <a:chOff x="0" y="0"/>
            <a:chExt cx="1270000" cy="1270000"/>
          </a:xfrm>
        </p:grpSpPr>
        <p:sp>
          <p:nvSpPr>
            <p:cNvPr name="Freeform 67" id="67" descr="preencoded.png"/>
            <p:cNvSpPr/>
            <p:nvPr/>
          </p:nvSpPr>
          <p:spPr>
            <a:xfrm flipH="false" flipV="false" rot="0">
              <a:off x="0" y="0"/>
              <a:ext cx="1270000" cy="1270000"/>
            </a:xfrm>
            <a:custGeom>
              <a:avLst/>
              <a:gdLst/>
              <a:ahLst/>
              <a:cxnLst/>
              <a:rect r="r" b="b" t="t" l="l"/>
              <a:pathLst>
                <a:path h="1270000" w="1270000">
                  <a:moveTo>
                    <a:pt x="0" y="0"/>
                  </a:moveTo>
                  <a:lnTo>
                    <a:pt x="1270000" y="0"/>
                  </a:lnTo>
                  <a:lnTo>
                    <a:pt x="1270000" y="1270000"/>
                  </a:lnTo>
                  <a:lnTo>
                    <a:pt x="0" y="1270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15525750" y="3543300"/>
            <a:ext cx="952500" cy="628650"/>
            <a:chOff x="0" y="0"/>
            <a:chExt cx="1270000" cy="83820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270000" cy="838200"/>
            </a:xfrm>
            <a:custGeom>
              <a:avLst/>
              <a:gdLst/>
              <a:ahLst/>
              <a:cxnLst/>
              <a:rect r="r" b="b" t="t" l="l"/>
              <a:pathLst>
                <a:path h="838200" w="1270000">
                  <a:moveTo>
                    <a:pt x="0" y="0"/>
                  </a:moveTo>
                  <a:lnTo>
                    <a:pt x="1270000" y="0"/>
                  </a:lnTo>
                  <a:lnTo>
                    <a:pt x="1270000" y="838200"/>
                  </a:lnTo>
                  <a:lnTo>
                    <a:pt x="0" y="838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4680" t="0" r="-34680" b="0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9525"/>
              <a:ext cx="1270000" cy="847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3B5BDB"/>
                  </a:solidFill>
                  <a:latin typeface="Inter Bold"/>
                  <a:ea typeface="Inter Bold"/>
                  <a:cs typeface="Inter Bold"/>
                  <a:sym typeface="Inter Bold"/>
                </a:rPr>
                <a:t>🤝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14668500" y="4667250"/>
            <a:ext cx="2667000" cy="428625"/>
            <a:chOff x="0" y="0"/>
            <a:chExt cx="3556000" cy="57150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3556000" cy="571500"/>
            </a:xfrm>
            <a:custGeom>
              <a:avLst/>
              <a:gdLst/>
              <a:ahLst/>
              <a:cxnLst/>
              <a:rect r="r" b="b" t="t" l="l"/>
              <a:pathLst>
                <a:path h="571500" w="3556000">
                  <a:moveTo>
                    <a:pt x="0" y="0"/>
                  </a:moveTo>
                  <a:lnTo>
                    <a:pt x="3556000" y="0"/>
                  </a:lnTo>
                  <a:lnTo>
                    <a:pt x="3556000" y="571500"/>
                  </a:lnTo>
                  <a:lnTo>
                    <a:pt x="0" y="5715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1240" r="0" b="-71240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19050"/>
              <a:ext cx="3556000" cy="590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14285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Respect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14763750" y="5334000"/>
            <a:ext cx="2476500" cy="1207539"/>
            <a:chOff x="0" y="0"/>
            <a:chExt cx="3302000" cy="1610052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3302000" cy="1610052"/>
            </a:xfrm>
            <a:custGeom>
              <a:avLst/>
              <a:gdLst/>
              <a:ahLst/>
              <a:cxnLst/>
              <a:rect r="r" b="b" t="t" l="l"/>
              <a:pathLst>
                <a:path h="1610052" w="3302000">
                  <a:moveTo>
                    <a:pt x="0" y="0"/>
                  </a:moveTo>
                  <a:lnTo>
                    <a:pt x="3302000" y="0"/>
                  </a:lnTo>
                  <a:lnTo>
                    <a:pt x="3302000" y="1610052"/>
                  </a:lnTo>
                  <a:lnTo>
                    <a:pt x="0" y="161005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4325" r="0" b="34402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95250"/>
              <a:ext cx="3302000" cy="17053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45"/>
                </a:lnSpc>
              </a:pPr>
              <a:r>
                <a:rPr lang="en-US" sz="2250" b="true">
                  <a:solidFill>
                    <a:srgbClr val="4A5568"/>
                  </a:solidFill>
                  <a:latin typeface="Inter Bold"/>
                  <a:ea typeface="Inter Bold"/>
                  <a:cs typeface="Inter Bold"/>
                  <a:sym typeface="Inter Bold"/>
                </a:rPr>
                <a:t>Value every team member's input.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3429000" y="8667750"/>
            <a:ext cx="11430000" cy="371475"/>
            <a:chOff x="0" y="0"/>
            <a:chExt cx="15240000" cy="49530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15240000" cy="495300"/>
            </a:xfrm>
            <a:custGeom>
              <a:avLst/>
              <a:gdLst/>
              <a:ahLst/>
              <a:cxnLst/>
              <a:rect r="r" b="b" t="t" l="l"/>
              <a:pathLst>
                <a:path h="495300" w="15240000">
                  <a:moveTo>
                    <a:pt x="0" y="0"/>
                  </a:moveTo>
                  <a:lnTo>
                    <a:pt x="15240000" y="0"/>
                  </a:lnTo>
                  <a:lnTo>
                    <a:pt x="15240000" y="495300"/>
                  </a:lnTo>
                  <a:lnTo>
                    <a:pt x="0" y="4953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49539" r="0" b="-549539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0"/>
              <a:ext cx="15240000" cy="495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5F3DC4"/>
                  </a:solidFill>
                  <a:latin typeface="Inter Bold"/>
                  <a:ea typeface="Inter Bold"/>
                  <a:cs typeface="Inter Bold"/>
                  <a:sym typeface="Inter Bold"/>
                </a:rPr>
                <a:t>Together, these values create trust, quality, and a healthy team culture.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95250"/>
            <a:chOff x="0" y="0"/>
            <a:chExt cx="24384000" cy="127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27000"/>
            </a:xfrm>
            <a:custGeom>
              <a:avLst/>
              <a:gdLst/>
              <a:ahLst/>
              <a:cxnLst/>
              <a:rect r="r" b="b" t="t" l="l"/>
              <a:pathLst>
                <a:path h="127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27000"/>
                  </a:lnTo>
                  <a:lnTo>
                    <a:pt x="0" y="127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52500" y="714375"/>
            <a:ext cx="133350" cy="571500"/>
            <a:chOff x="0" y="0"/>
            <a:chExt cx="177800" cy="762000"/>
          </a:xfrm>
        </p:grpSpPr>
        <p:sp>
          <p:nvSpPr>
            <p:cNvPr name="Freeform 5" id="5" descr="preencoded.png"/>
            <p:cNvSpPr/>
            <p:nvPr/>
          </p:nvSpPr>
          <p:spPr>
            <a:xfrm flipH="false" flipV="false" rot="0">
              <a:off x="0" y="0"/>
              <a:ext cx="177800" cy="762000"/>
            </a:xfrm>
            <a:custGeom>
              <a:avLst/>
              <a:gdLst/>
              <a:ahLst/>
              <a:cxnLst/>
              <a:rect r="r" b="b" t="t" l="l"/>
              <a:pathLst>
                <a:path h="762000" w="177800">
                  <a:moveTo>
                    <a:pt x="0" y="0"/>
                  </a:moveTo>
                  <a:lnTo>
                    <a:pt x="177800" y="0"/>
                  </a:lnTo>
                  <a:lnTo>
                    <a:pt x="177800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333500" y="666750"/>
            <a:ext cx="9525000" cy="800100"/>
            <a:chOff x="0" y="0"/>
            <a:chExt cx="12700000" cy="1066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700000" cy="1066800"/>
            </a:xfrm>
            <a:custGeom>
              <a:avLst/>
              <a:gdLst/>
              <a:ahLst/>
              <a:cxnLst/>
              <a:rect r="r" b="b" t="t" l="l"/>
              <a:pathLst>
                <a:path h="1066800" w="12700000">
                  <a:moveTo>
                    <a:pt x="0" y="0"/>
                  </a:moveTo>
                  <a:lnTo>
                    <a:pt x="12700000" y="0"/>
                  </a:lnTo>
                  <a:lnTo>
                    <a:pt x="12700000" y="1066800"/>
                  </a:lnTo>
                  <a:lnTo>
                    <a:pt x="0" y="10668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81964" r="0" b="-181964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2700000" cy="1104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14285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Key Practices of XP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52500" y="2000250"/>
            <a:ext cx="7810500" cy="1524000"/>
            <a:chOff x="0" y="0"/>
            <a:chExt cx="10414000" cy="2032000"/>
          </a:xfrm>
        </p:grpSpPr>
        <p:sp>
          <p:nvSpPr>
            <p:cNvPr name="Freeform 10" id="10" descr="preencoded.png"/>
            <p:cNvSpPr/>
            <p:nvPr/>
          </p:nvSpPr>
          <p:spPr>
            <a:xfrm flipH="false" flipV="false" rot="0">
              <a:off x="0" y="0"/>
              <a:ext cx="10414000" cy="2032000"/>
            </a:xfrm>
            <a:custGeom>
              <a:avLst/>
              <a:gdLst/>
              <a:ahLst/>
              <a:cxnLst/>
              <a:rect r="r" b="b" t="t" l="l"/>
              <a:pathLst>
                <a:path h="2032000" w="10414000">
                  <a:moveTo>
                    <a:pt x="0" y="0"/>
                  </a:moveTo>
                  <a:lnTo>
                    <a:pt x="10414000" y="0"/>
                  </a:lnTo>
                  <a:lnTo>
                    <a:pt x="10414000" y="2032000"/>
                  </a:lnTo>
                  <a:lnTo>
                    <a:pt x="0" y="203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333500" y="2266950"/>
            <a:ext cx="7048500" cy="428625"/>
            <a:chOff x="0" y="0"/>
            <a:chExt cx="9398000" cy="5715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398000" cy="571500"/>
            </a:xfrm>
            <a:custGeom>
              <a:avLst/>
              <a:gdLst/>
              <a:ahLst/>
              <a:cxnLst/>
              <a:rect r="r" b="b" t="t" l="l"/>
              <a:pathLst>
                <a:path h="571500" w="9398000">
                  <a:moveTo>
                    <a:pt x="0" y="0"/>
                  </a:moveTo>
                  <a:lnTo>
                    <a:pt x="9398000" y="0"/>
                  </a:lnTo>
                  <a:lnTo>
                    <a:pt x="9398000" y="571500"/>
                  </a:lnTo>
                  <a:lnTo>
                    <a:pt x="0" y="5715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0420" r="0" b="-27042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9398000" cy="590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4285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Pair Programming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333500" y="2714625"/>
            <a:ext cx="7048500" cy="342900"/>
            <a:chOff x="0" y="0"/>
            <a:chExt cx="9398000" cy="4572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398000" cy="457200"/>
            </a:xfrm>
            <a:custGeom>
              <a:avLst/>
              <a:gdLst/>
              <a:ahLst/>
              <a:cxnLst/>
              <a:rect r="r" b="b" t="t" l="l"/>
              <a:pathLst>
                <a:path h="457200" w="9398000">
                  <a:moveTo>
                    <a:pt x="0" y="0"/>
                  </a:moveTo>
                  <a:lnTo>
                    <a:pt x="9398000" y="0"/>
                  </a:lnTo>
                  <a:lnTo>
                    <a:pt x="93980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50525" r="0" b="-350525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"/>
              <a:ext cx="9398000" cy="466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4A5568"/>
                  </a:solidFill>
                  <a:latin typeface="Inter Bold"/>
                  <a:ea typeface="Inter Bold"/>
                  <a:cs typeface="Inter Bold"/>
                  <a:sym typeface="Inter Bold"/>
                </a:rPr>
                <a:t>Two developers work together at one screen.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52500" y="3714750"/>
            <a:ext cx="7810500" cy="1524000"/>
            <a:chOff x="0" y="0"/>
            <a:chExt cx="10414000" cy="2032000"/>
          </a:xfrm>
        </p:grpSpPr>
        <p:sp>
          <p:nvSpPr>
            <p:cNvPr name="Freeform 18" id="18" descr="preencoded.png"/>
            <p:cNvSpPr/>
            <p:nvPr/>
          </p:nvSpPr>
          <p:spPr>
            <a:xfrm flipH="false" flipV="false" rot="0">
              <a:off x="0" y="0"/>
              <a:ext cx="10414000" cy="2032000"/>
            </a:xfrm>
            <a:custGeom>
              <a:avLst/>
              <a:gdLst/>
              <a:ahLst/>
              <a:cxnLst/>
              <a:rect r="r" b="b" t="t" l="l"/>
              <a:pathLst>
                <a:path h="2032000" w="10414000">
                  <a:moveTo>
                    <a:pt x="0" y="0"/>
                  </a:moveTo>
                  <a:lnTo>
                    <a:pt x="10414000" y="0"/>
                  </a:lnTo>
                  <a:lnTo>
                    <a:pt x="10414000" y="2032000"/>
                  </a:lnTo>
                  <a:lnTo>
                    <a:pt x="0" y="203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333500" y="3981450"/>
            <a:ext cx="7048500" cy="428625"/>
            <a:chOff x="0" y="0"/>
            <a:chExt cx="9398000" cy="5715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398000" cy="571500"/>
            </a:xfrm>
            <a:custGeom>
              <a:avLst/>
              <a:gdLst/>
              <a:ahLst/>
              <a:cxnLst/>
              <a:rect r="r" b="b" t="t" l="l"/>
              <a:pathLst>
                <a:path h="571500" w="9398000">
                  <a:moveTo>
                    <a:pt x="0" y="0"/>
                  </a:moveTo>
                  <a:lnTo>
                    <a:pt x="9398000" y="0"/>
                  </a:lnTo>
                  <a:lnTo>
                    <a:pt x="9398000" y="571500"/>
                  </a:lnTo>
                  <a:lnTo>
                    <a:pt x="0" y="5715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0420" r="0" b="-27042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9050"/>
              <a:ext cx="9398000" cy="590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4285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Test-Driven Development (TDD)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333500" y="4429125"/>
            <a:ext cx="7048500" cy="342900"/>
            <a:chOff x="0" y="0"/>
            <a:chExt cx="9398000" cy="4572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398000" cy="457200"/>
            </a:xfrm>
            <a:custGeom>
              <a:avLst/>
              <a:gdLst/>
              <a:ahLst/>
              <a:cxnLst/>
              <a:rect r="r" b="b" t="t" l="l"/>
              <a:pathLst>
                <a:path h="457200" w="9398000">
                  <a:moveTo>
                    <a:pt x="0" y="0"/>
                  </a:moveTo>
                  <a:lnTo>
                    <a:pt x="9398000" y="0"/>
                  </a:lnTo>
                  <a:lnTo>
                    <a:pt x="93980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50525" r="0" b="-350525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9525"/>
              <a:ext cx="9398000" cy="466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4A5568"/>
                  </a:solidFill>
                  <a:latin typeface="Inter Bold"/>
                  <a:ea typeface="Inter Bold"/>
                  <a:cs typeface="Inter Bold"/>
                  <a:sym typeface="Inter Bold"/>
                </a:rPr>
                <a:t>Write tests before writing the code.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52500" y="5429250"/>
            <a:ext cx="7810500" cy="1524000"/>
            <a:chOff x="0" y="0"/>
            <a:chExt cx="10414000" cy="2032000"/>
          </a:xfrm>
        </p:grpSpPr>
        <p:sp>
          <p:nvSpPr>
            <p:cNvPr name="Freeform 26" id="26" descr="preencoded.png"/>
            <p:cNvSpPr/>
            <p:nvPr/>
          </p:nvSpPr>
          <p:spPr>
            <a:xfrm flipH="false" flipV="false" rot="0">
              <a:off x="0" y="0"/>
              <a:ext cx="10414000" cy="2032000"/>
            </a:xfrm>
            <a:custGeom>
              <a:avLst/>
              <a:gdLst/>
              <a:ahLst/>
              <a:cxnLst/>
              <a:rect r="r" b="b" t="t" l="l"/>
              <a:pathLst>
                <a:path h="2032000" w="10414000">
                  <a:moveTo>
                    <a:pt x="0" y="0"/>
                  </a:moveTo>
                  <a:lnTo>
                    <a:pt x="10414000" y="0"/>
                  </a:lnTo>
                  <a:lnTo>
                    <a:pt x="10414000" y="2032000"/>
                  </a:lnTo>
                  <a:lnTo>
                    <a:pt x="0" y="203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333500" y="5695950"/>
            <a:ext cx="7048500" cy="428625"/>
            <a:chOff x="0" y="0"/>
            <a:chExt cx="9398000" cy="5715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9398000" cy="571500"/>
            </a:xfrm>
            <a:custGeom>
              <a:avLst/>
              <a:gdLst/>
              <a:ahLst/>
              <a:cxnLst/>
              <a:rect r="r" b="b" t="t" l="l"/>
              <a:pathLst>
                <a:path h="571500" w="9398000">
                  <a:moveTo>
                    <a:pt x="0" y="0"/>
                  </a:moveTo>
                  <a:lnTo>
                    <a:pt x="9398000" y="0"/>
                  </a:lnTo>
                  <a:lnTo>
                    <a:pt x="9398000" y="571500"/>
                  </a:lnTo>
                  <a:lnTo>
                    <a:pt x="0" y="5715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0420" r="0" b="-27042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19050"/>
              <a:ext cx="9398000" cy="590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4285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Continuous Integration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333500" y="6143625"/>
            <a:ext cx="7048500" cy="342900"/>
            <a:chOff x="0" y="0"/>
            <a:chExt cx="9398000" cy="4572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9398000" cy="457200"/>
            </a:xfrm>
            <a:custGeom>
              <a:avLst/>
              <a:gdLst/>
              <a:ahLst/>
              <a:cxnLst/>
              <a:rect r="r" b="b" t="t" l="l"/>
              <a:pathLst>
                <a:path h="457200" w="9398000">
                  <a:moveTo>
                    <a:pt x="0" y="0"/>
                  </a:moveTo>
                  <a:lnTo>
                    <a:pt x="9398000" y="0"/>
                  </a:lnTo>
                  <a:lnTo>
                    <a:pt x="93980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50525" r="0" b="-350525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9525"/>
              <a:ext cx="9398000" cy="466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4A5568"/>
                  </a:solidFill>
                  <a:latin typeface="Inter Bold"/>
                  <a:ea typeface="Inter Bold"/>
                  <a:cs typeface="Inter Bold"/>
                  <a:sym typeface="Inter Bold"/>
                </a:rPr>
                <a:t>Merge and test code changes often.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9525000" y="2000250"/>
            <a:ext cx="7810500" cy="1524000"/>
            <a:chOff x="0" y="0"/>
            <a:chExt cx="10414000" cy="2032000"/>
          </a:xfrm>
        </p:grpSpPr>
        <p:sp>
          <p:nvSpPr>
            <p:cNvPr name="Freeform 34" id="34" descr="preencoded.png"/>
            <p:cNvSpPr/>
            <p:nvPr/>
          </p:nvSpPr>
          <p:spPr>
            <a:xfrm flipH="false" flipV="false" rot="0">
              <a:off x="0" y="0"/>
              <a:ext cx="10414000" cy="2032000"/>
            </a:xfrm>
            <a:custGeom>
              <a:avLst/>
              <a:gdLst/>
              <a:ahLst/>
              <a:cxnLst/>
              <a:rect r="r" b="b" t="t" l="l"/>
              <a:pathLst>
                <a:path h="2032000" w="10414000">
                  <a:moveTo>
                    <a:pt x="0" y="0"/>
                  </a:moveTo>
                  <a:lnTo>
                    <a:pt x="10414000" y="0"/>
                  </a:lnTo>
                  <a:lnTo>
                    <a:pt x="10414000" y="2032000"/>
                  </a:lnTo>
                  <a:lnTo>
                    <a:pt x="0" y="203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9906000" y="2266950"/>
            <a:ext cx="7048500" cy="428625"/>
            <a:chOff x="0" y="0"/>
            <a:chExt cx="9398000" cy="5715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9398000" cy="571500"/>
            </a:xfrm>
            <a:custGeom>
              <a:avLst/>
              <a:gdLst/>
              <a:ahLst/>
              <a:cxnLst/>
              <a:rect r="r" b="b" t="t" l="l"/>
              <a:pathLst>
                <a:path h="571500" w="9398000">
                  <a:moveTo>
                    <a:pt x="0" y="0"/>
                  </a:moveTo>
                  <a:lnTo>
                    <a:pt x="9398000" y="0"/>
                  </a:lnTo>
                  <a:lnTo>
                    <a:pt x="9398000" y="571500"/>
                  </a:lnTo>
                  <a:lnTo>
                    <a:pt x="0" y="5715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0420" r="0" b="-27042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19050"/>
              <a:ext cx="9398000" cy="590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4285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Small Releases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9906000" y="2714625"/>
            <a:ext cx="7048500" cy="342900"/>
            <a:chOff x="0" y="0"/>
            <a:chExt cx="9398000" cy="4572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9398000" cy="457200"/>
            </a:xfrm>
            <a:custGeom>
              <a:avLst/>
              <a:gdLst/>
              <a:ahLst/>
              <a:cxnLst/>
              <a:rect r="r" b="b" t="t" l="l"/>
              <a:pathLst>
                <a:path h="457200" w="9398000">
                  <a:moveTo>
                    <a:pt x="0" y="0"/>
                  </a:moveTo>
                  <a:lnTo>
                    <a:pt x="9398000" y="0"/>
                  </a:lnTo>
                  <a:lnTo>
                    <a:pt x="93980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50525" r="0" b="-350525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9525"/>
              <a:ext cx="9398000" cy="466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4A5568"/>
                  </a:solidFill>
                  <a:latin typeface="Inter Bold"/>
                  <a:ea typeface="Inter Bold"/>
                  <a:cs typeface="Inter Bold"/>
                  <a:sym typeface="Inter Bold"/>
                </a:rPr>
                <a:t>Ship frequently in small increments.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9525000" y="3714750"/>
            <a:ext cx="7810500" cy="1524000"/>
            <a:chOff x="0" y="0"/>
            <a:chExt cx="10414000" cy="2032000"/>
          </a:xfrm>
        </p:grpSpPr>
        <p:sp>
          <p:nvSpPr>
            <p:cNvPr name="Freeform 42" id="42" descr="preencoded.png"/>
            <p:cNvSpPr/>
            <p:nvPr/>
          </p:nvSpPr>
          <p:spPr>
            <a:xfrm flipH="false" flipV="false" rot="0">
              <a:off x="0" y="0"/>
              <a:ext cx="10414000" cy="2032000"/>
            </a:xfrm>
            <a:custGeom>
              <a:avLst/>
              <a:gdLst/>
              <a:ahLst/>
              <a:cxnLst/>
              <a:rect r="r" b="b" t="t" l="l"/>
              <a:pathLst>
                <a:path h="2032000" w="10414000">
                  <a:moveTo>
                    <a:pt x="0" y="0"/>
                  </a:moveTo>
                  <a:lnTo>
                    <a:pt x="10414000" y="0"/>
                  </a:lnTo>
                  <a:lnTo>
                    <a:pt x="10414000" y="2032000"/>
                  </a:lnTo>
                  <a:lnTo>
                    <a:pt x="0" y="203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9906000" y="3981450"/>
            <a:ext cx="7048500" cy="428625"/>
            <a:chOff x="0" y="0"/>
            <a:chExt cx="9398000" cy="5715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9398000" cy="571500"/>
            </a:xfrm>
            <a:custGeom>
              <a:avLst/>
              <a:gdLst/>
              <a:ahLst/>
              <a:cxnLst/>
              <a:rect r="r" b="b" t="t" l="l"/>
              <a:pathLst>
                <a:path h="571500" w="9398000">
                  <a:moveTo>
                    <a:pt x="0" y="0"/>
                  </a:moveTo>
                  <a:lnTo>
                    <a:pt x="9398000" y="0"/>
                  </a:lnTo>
                  <a:lnTo>
                    <a:pt x="9398000" y="571500"/>
                  </a:lnTo>
                  <a:lnTo>
                    <a:pt x="0" y="5715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0420" r="0" b="-270420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19050"/>
              <a:ext cx="9398000" cy="590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4285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Refactoring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9906000" y="4429125"/>
            <a:ext cx="7048500" cy="342900"/>
            <a:chOff x="0" y="0"/>
            <a:chExt cx="9398000" cy="4572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9398000" cy="457200"/>
            </a:xfrm>
            <a:custGeom>
              <a:avLst/>
              <a:gdLst/>
              <a:ahLst/>
              <a:cxnLst/>
              <a:rect r="r" b="b" t="t" l="l"/>
              <a:pathLst>
                <a:path h="457200" w="9398000">
                  <a:moveTo>
                    <a:pt x="0" y="0"/>
                  </a:moveTo>
                  <a:lnTo>
                    <a:pt x="9398000" y="0"/>
                  </a:lnTo>
                  <a:lnTo>
                    <a:pt x="93980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50525" r="0" b="-350525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9525"/>
              <a:ext cx="9398000" cy="466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4A5568"/>
                  </a:solidFill>
                  <a:latin typeface="Inter Bold"/>
                  <a:ea typeface="Inter Bold"/>
                  <a:cs typeface="Inter Bold"/>
                  <a:sym typeface="Inter Bold"/>
                </a:rPr>
                <a:t>Improve code without changing behavior.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9525000" y="5429250"/>
            <a:ext cx="7810500" cy="1524000"/>
            <a:chOff x="0" y="0"/>
            <a:chExt cx="10414000" cy="2032000"/>
          </a:xfrm>
        </p:grpSpPr>
        <p:sp>
          <p:nvSpPr>
            <p:cNvPr name="Freeform 50" id="50" descr="preencoded.png"/>
            <p:cNvSpPr/>
            <p:nvPr/>
          </p:nvSpPr>
          <p:spPr>
            <a:xfrm flipH="false" flipV="false" rot="0">
              <a:off x="0" y="0"/>
              <a:ext cx="10414000" cy="2032000"/>
            </a:xfrm>
            <a:custGeom>
              <a:avLst/>
              <a:gdLst/>
              <a:ahLst/>
              <a:cxnLst/>
              <a:rect r="r" b="b" t="t" l="l"/>
              <a:pathLst>
                <a:path h="2032000" w="10414000">
                  <a:moveTo>
                    <a:pt x="0" y="0"/>
                  </a:moveTo>
                  <a:lnTo>
                    <a:pt x="10414000" y="0"/>
                  </a:lnTo>
                  <a:lnTo>
                    <a:pt x="10414000" y="2032000"/>
                  </a:lnTo>
                  <a:lnTo>
                    <a:pt x="0" y="203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9906000" y="5695950"/>
            <a:ext cx="7048500" cy="428625"/>
            <a:chOff x="0" y="0"/>
            <a:chExt cx="9398000" cy="5715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9398000" cy="571500"/>
            </a:xfrm>
            <a:custGeom>
              <a:avLst/>
              <a:gdLst/>
              <a:ahLst/>
              <a:cxnLst/>
              <a:rect r="r" b="b" t="t" l="l"/>
              <a:pathLst>
                <a:path h="571500" w="9398000">
                  <a:moveTo>
                    <a:pt x="0" y="0"/>
                  </a:moveTo>
                  <a:lnTo>
                    <a:pt x="9398000" y="0"/>
                  </a:lnTo>
                  <a:lnTo>
                    <a:pt x="9398000" y="571500"/>
                  </a:lnTo>
                  <a:lnTo>
                    <a:pt x="0" y="5715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0420" r="0" b="-270420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19050"/>
              <a:ext cx="9398000" cy="590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4285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User Stories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9906000" y="6143625"/>
            <a:ext cx="7048500" cy="342900"/>
            <a:chOff x="0" y="0"/>
            <a:chExt cx="9398000" cy="45720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9398000" cy="457200"/>
            </a:xfrm>
            <a:custGeom>
              <a:avLst/>
              <a:gdLst/>
              <a:ahLst/>
              <a:cxnLst/>
              <a:rect r="r" b="b" t="t" l="l"/>
              <a:pathLst>
                <a:path h="457200" w="9398000">
                  <a:moveTo>
                    <a:pt x="0" y="0"/>
                  </a:moveTo>
                  <a:lnTo>
                    <a:pt x="9398000" y="0"/>
                  </a:lnTo>
                  <a:lnTo>
                    <a:pt x="93980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50525" r="0" b="-350525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9525"/>
              <a:ext cx="9398000" cy="466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4A5568"/>
                  </a:solidFill>
                  <a:latin typeface="Inter Bold"/>
                  <a:ea typeface="Inter Bold"/>
                  <a:cs typeface="Inter Bold"/>
                  <a:sym typeface="Inter Bold"/>
                </a:rPr>
                <a:t>Capture needs from the user's point of view.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952500" y="7524750"/>
            <a:ext cx="16383000" cy="428625"/>
            <a:chOff x="0" y="0"/>
            <a:chExt cx="21844000" cy="57150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21844000" cy="571500"/>
            </a:xfrm>
            <a:custGeom>
              <a:avLst/>
              <a:gdLst/>
              <a:ahLst/>
              <a:cxnLst/>
              <a:rect r="r" b="b" t="t" l="l"/>
              <a:pathLst>
                <a:path h="571500" w="21844000">
                  <a:moveTo>
                    <a:pt x="0" y="0"/>
                  </a:moveTo>
                  <a:lnTo>
                    <a:pt x="21844000" y="0"/>
                  </a:lnTo>
                  <a:lnTo>
                    <a:pt x="21844000" y="571500"/>
                  </a:lnTo>
                  <a:lnTo>
                    <a:pt x="0" y="5715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94761" r="0" b="-694761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19050"/>
              <a:ext cx="21844000" cy="590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5F3DC4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User Story  →  Code  →  Test  →  Refactor  →  Integrate  →  Release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95250"/>
            <a:chOff x="0" y="0"/>
            <a:chExt cx="24384000" cy="127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27000"/>
            </a:xfrm>
            <a:custGeom>
              <a:avLst/>
              <a:gdLst/>
              <a:ahLst/>
              <a:cxnLst/>
              <a:rect r="r" b="b" t="t" l="l"/>
              <a:pathLst>
                <a:path h="127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27000"/>
                  </a:lnTo>
                  <a:lnTo>
                    <a:pt x="0" y="127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52500" y="714375"/>
            <a:ext cx="133350" cy="571500"/>
            <a:chOff x="0" y="0"/>
            <a:chExt cx="177800" cy="762000"/>
          </a:xfrm>
        </p:grpSpPr>
        <p:sp>
          <p:nvSpPr>
            <p:cNvPr name="Freeform 5" id="5" descr="preencoded.png"/>
            <p:cNvSpPr/>
            <p:nvPr/>
          </p:nvSpPr>
          <p:spPr>
            <a:xfrm flipH="false" flipV="false" rot="0">
              <a:off x="0" y="0"/>
              <a:ext cx="177800" cy="762000"/>
            </a:xfrm>
            <a:custGeom>
              <a:avLst/>
              <a:gdLst/>
              <a:ahLst/>
              <a:cxnLst/>
              <a:rect r="r" b="b" t="t" l="l"/>
              <a:pathLst>
                <a:path h="762000" w="177800">
                  <a:moveTo>
                    <a:pt x="0" y="0"/>
                  </a:moveTo>
                  <a:lnTo>
                    <a:pt x="177800" y="0"/>
                  </a:lnTo>
                  <a:lnTo>
                    <a:pt x="177800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333500" y="666750"/>
            <a:ext cx="12382500" cy="800100"/>
            <a:chOff x="0" y="0"/>
            <a:chExt cx="16510000" cy="1066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510000" cy="1066800"/>
            </a:xfrm>
            <a:custGeom>
              <a:avLst/>
              <a:gdLst/>
              <a:ahLst/>
              <a:cxnLst/>
              <a:rect r="r" b="b" t="t" l="l"/>
              <a:pathLst>
                <a:path h="1066800" w="16510000">
                  <a:moveTo>
                    <a:pt x="0" y="0"/>
                  </a:moveTo>
                  <a:lnTo>
                    <a:pt x="16510000" y="0"/>
                  </a:lnTo>
                  <a:lnTo>
                    <a:pt x="16510000" y="1066800"/>
                  </a:lnTo>
                  <a:lnTo>
                    <a:pt x="0" y="10668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51554" r="0" b="-251554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6510000" cy="1104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14285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How XP Fits with Agile &amp; DevOps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52500" y="2190750"/>
            <a:ext cx="4953000" cy="5524500"/>
            <a:chOff x="0" y="0"/>
            <a:chExt cx="6604000" cy="7366000"/>
          </a:xfrm>
        </p:grpSpPr>
        <p:sp>
          <p:nvSpPr>
            <p:cNvPr name="Freeform 10" id="10" descr="preencoded.png"/>
            <p:cNvSpPr/>
            <p:nvPr/>
          </p:nvSpPr>
          <p:spPr>
            <a:xfrm flipH="false" flipV="false" rot="0">
              <a:off x="0" y="0"/>
              <a:ext cx="6604000" cy="7366000"/>
            </a:xfrm>
            <a:custGeom>
              <a:avLst/>
              <a:gdLst/>
              <a:ahLst/>
              <a:cxnLst/>
              <a:rect r="r" b="b" t="t" l="l"/>
              <a:pathLst>
                <a:path h="7366000" w="6604000">
                  <a:moveTo>
                    <a:pt x="0" y="0"/>
                  </a:moveTo>
                  <a:lnTo>
                    <a:pt x="6604000" y="0"/>
                  </a:lnTo>
                  <a:lnTo>
                    <a:pt x="6604000" y="7366000"/>
                  </a:lnTo>
                  <a:lnTo>
                    <a:pt x="0" y="736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52500" y="2190750"/>
            <a:ext cx="4953000" cy="1047750"/>
            <a:chOff x="0" y="0"/>
            <a:chExt cx="6604000" cy="1397000"/>
          </a:xfrm>
        </p:grpSpPr>
        <p:sp>
          <p:nvSpPr>
            <p:cNvPr name="Freeform 12" id="12" descr="preencoded.png"/>
            <p:cNvSpPr/>
            <p:nvPr/>
          </p:nvSpPr>
          <p:spPr>
            <a:xfrm flipH="false" flipV="false" rot="0">
              <a:off x="0" y="0"/>
              <a:ext cx="66040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6604000">
                  <a:moveTo>
                    <a:pt x="0" y="0"/>
                  </a:moveTo>
                  <a:lnTo>
                    <a:pt x="6604000" y="0"/>
                  </a:lnTo>
                  <a:lnTo>
                    <a:pt x="6604000" y="1397000"/>
                  </a:lnTo>
                  <a:lnTo>
                    <a:pt x="0" y="1397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238250" y="2428875"/>
            <a:ext cx="4381500" cy="542925"/>
            <a:chOff x="0" y="0"/>
            <a:chExt cx="5842000" cy="7239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842000" cy="723900"/>
            </a:xfrm>
            <a:custGeom>
              <a:avLst/>
              <a:gdLst/>
              <a:ahLst/>
              <a:cxnLst/>
              <a:rect r="r" b="b" t="t" l="l"/>
              <a:pathLst>
                <a:path h="723900" w="5842000">
                  <a:moveTo>
                    <a:pt x="0" y="0"/>
                  </a:moveTo>
                  <a:lnTo>
                    <a:pt x="5842000" y="0"/>
                  </a:lnTo>
                  <a:lnTo>
                    <a:pt x="5842000" y="723900"/>
                  </a:lnTo>
                  <a:lnTo>
                    <a:pt x="0" y="7239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7247" r="0" b="-107247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5842000" cy="762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50" b="true">
                  <a:solidFill>
                    <a:srgbClr val="14285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Agile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238250" y="2857500"/>
            <a:ext cx="4381500" cy="314325"/>
            <a:chOff x="0" y="0"/>
            <a:chExt cx="5842000" cy="4191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842000" cy="419100"/>
            </a:xfrm>
            <a:custGeom>
              <a:avLst/>
              <a:gdLst/>
              <a:ahLst/>
              <a:cxnLst/>
              <a:rect r="r" b="b" t="t" l="l"/>
              <a:pathLst>
                <a:path h="419100" w="5842000">
                  <a:moveTo>
                    <a:pt x="0" y="0"/>
                  </a:moveTo>
                  <a:lnTo>
                    <a:pt x="5842000" y="0"/>
                  </a:lnTo>
                  <a:lnTo>
                    <a:pt x="5842000" y="419100"/>
                  </a:lnTo>
                  <a:lnTo>
                    <a:pt x="0" y="4191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21609" r="0" b="-221609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9525"/>
              <a:ext cx="5842000" cy="4286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74"/>
                </a:lnSpc>
              </a:pPr>
              <a:r>
                <a:rPr lang="en-US" sz="2061" b="true">
                  <a:solidFill>
                    <a:srgbClr val="5F3DC4"/>
                  </a:solidFill>
                  <a:latin typeface="Inter Bold"/>
                  <a:ea typeface="Inter Bold"/>
                  <a:cs typeface="Inter Bold"/>
                  <a:sym typeface="Inter Bold"/>
                </a:rPr>
                <a:t>Mindset &amp; Framework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238250" y="3619500"/>
            <a:ext cx="4381500" cy="2961327"/>
            <a:chOff x="0" y="0"/>
            <a:chExt cx="5842000" cy="394843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842000" cy="3948436"/>
            </a:xfrm>
            <a:custGeom>
              <a:avLst/>
              <a:gdLst/>
              <a:ahLst/>
              <a:cxnLst/>
              <a:rect r="r" b="b" t="t" l="l"/>
              <a:pathLst>
                <a:path h="3948436" w="5842000">
                  <a:moveTo>
                    <a:pt x="0" y="0"/>
                  </a:moveTo>
                  <a:lnTo>
                    <a:pt x="5842000" y="0"/>
                  </a:lnTo>
                  <a:lnTo>
                    <a:pt x="5842000" y="3948436"/>
                  </a:lnTo>
                  <a:lnTo>
                    <a:pt x="0" y="394843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5226" t="0" r="-5226" b="36314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247650"/>
              <a:ext cx="5842000" cy="41960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289560" indent="-144780" lvl="1">
                <a:lnSpc>
                  <a:spcPts val="5472"/>
                </a:lnSpc>
                <a:buFont typeface="Arial"/>
                <a:buChar char="•"/>
              </a:pPr>
              <a:r>
                <a:rPr lang="en-US" b="true" sz="2400">
                  <a:solidFill>
                    <a:srgbClr val="14285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Flexibility</a:t>
              </a:r>
            </a:p>
            <a:p>
              <a:pPr algn="l" marL="289560" indent="-144780" lvl="1">
                <a:lnSpc>
                  <a:spcPts val="5472"/>
                </a:lnSpc>
                <a:buFont typeface="Arial"/>
                <a:buChar char="•"/>
              </a:pPr>
              <a:r>
                <a:rPr lang="en-US" b="true" sz="2400">
                  <a:solidFill>
                    <a:srgbClr val="14285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Collaboration</a:t>
              </a:r>
            </a:p>
            <a:p>
              <a:pPr algn="l" marL="289560" indent="-144780" lvl="1">
                <a:lnSpc>
                  <a:spcPts val="5472"/>
                </a:lnSpc>
                <a:buFont typeface="Arial"/>
                <a:buChar char="•"/>
              </a:pPr>
              <a:r>
                <a:rPr lang="en-US" b="true" sz="2400">
                  <a:solidFill>
                    <a:srgbClr val="14285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Iterative development</a:t>
              </a:r>
            </a:p>
            <a:p>
              <a:pPr algn="l" marL="289560" indent="-144780" lvl="1">
                <a:lnSpc>
                  <a:spcPts val="5472"/>
                </a:lnSpc>
                <a:buFont typeface="Arial"/>
                <a:buChar char="•"/>
              </a:pPr>
              <a:r>
                <a:rPr lang="en-US" b="true" sz="2400">
                  <a:solidFill>
                    <a:srgbClr val="14285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Fast feedback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5981700" y="4572000"/>
            <a:ext cx="685800" cy="685800"/>
            <a:chOff x="0" y="0"/>
            <a:chExt cx="914400" cy="9144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9525"/>
              <a:ext cx="914400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3B5BDB"/>
                  </a:solidFill>
                  <a:latin typeface="Inter Bold"/>
                  <a:ea typeface="Inter Bold"/>
                  <a:cs typeface="Inter Bold"/>
                  <a:sym typeface="Inter Bold"/>
                </a:rPr>
                <a:t>→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6667500" y="2190750"/>
            <a:ext cx="4953000" cy="5524500"/>
            <a:chOff x="0" y="0"/>
            <a:chExt cx="6604000" cy="7366000"/>
          </a:xfrm>
        </p:grpSpPr>
        <p:sp>
          <p:nvSpPr>
            <p:cNvPr name="Freeform 26" id="26" descr="preencoded.png"/>
            <p:cNvSpPr/>
            <p:nvPr/>
          </p:nvSpPr>
          <p:spPr>
            <a:xfrm flipH="false" flipV="false" rot="0">
              <a:off x="0" y="0"/>
              <a:ext cx="6604000" cy="7366000"/>
            </a:xfrm>
            <a:custGeom>
              <a:avLst/>
              <a:gdLst/>
              <a:ahLst/>
              <a:cxnLst/>
              <a:rect r="r" b="b" t="t" l="l"/>
              <a:pathLst>
                <a:path h="7366000" w="6604000">
                  <a:moveTo>
                    <a:pt x="0" y="0"/>
                  </a:moveTo>
                  <a:lnTo>
                    <a:pt x="6604000" y="0"/>
                  </a:lnTo>
                  <a:lnTo>
                    <a:pt x="6604000" y="7366000"/>
                  </a:lnTo>
                  <a:lnTo>
                    <a:pt x="0" y="736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6953250" y="2428875"/>
            <a:ext cx="4381500" cy="542925"/>
            <a:chOff x="0" y="0"/>
            <a:chExt cx="5842000" cy="7239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842000" cy="723900"/>
            </a:xfrm>
            <a:custGeom>
              <a:avLst/>
              <a:gdLst/>
              <a:ahLst/>
              <a:cxnLst/>
              <a:rect r="r" b="b" t="t" l="l"/>
              <a:pathLst>
                <a:path h="723900" w="5842000">
                  <a:moveTo>
                    <a:pt x="0" y="0"/>
                  </a:moveTo>
                  <a:lnTo>
                    <a:pt x="5842000" y="0"/>
                  </a:lnTo>
                  <a:lnTo>
                    <a:pt x="5842000" y="723900"/>
                  </a:lnTo>
                  <a:lnTo>
                    <a:pt x="0" y="7239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7247" r="0" b="-107247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5842000" cy="762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50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XP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6953250" y="2857500"/>
            <a:ext cx="4381500" cy="314325"/>
            <a:chOff x="0" y="0"/>
            <a:chExt cx="5842000" cy="4191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842000" cy="419100"/>
            </a:xfrm>
            <a:custGeom>
              <a:avLst/>
              <a:gdLst/>
              <a:ahLst/>
              <a:cxnLst/>
              <a:rect r="r" b="b" t="t" l="l"/>
              <a:pathLst>
                <a:path h="419100" w="5842000">
                  <a:moveTo>
                    <a:pt x="0" y="0"/>
                  </a:moveTo>
                  <a:lnTo>
                    <a:pt x="5842000" y="0"/>
                  </a:lnTo>
                  <a:lnTo>
                    <a:pt x="5842000" y="419100"/>
                  </a:lnTo>
                  <a:lnTo>
                    <a:pt x="0" y="4191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21609" r="0" b="-221609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9525"/>
              <a:ext cx="5842000" cy="4286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74"/>
                </a:lnSpc>
              </a:pPr>
              <a:r>
                <a:rPr lang="en-US" sz="2061" b="true">
                  <a:solidFill>
                    <a:srgbClr val="E5E9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Development Practices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6953250" y="3619500"/>
            <a:ext cx="4381500" cy="2961327"/>
            <a:chOff x="0" y="0"/>
            <a:chExt cx="5842000" cy="394843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5842000" cy="3948436"/>
            </a:xfrm>
            <a:custGeom>
              <a:avLst/>
              <a:gdLst/>
              <a:ahLst/>
              <a:cxnLst/>
              <a:rect r="r" b="b" t="t" l="l"/>
              <a:pathLst>
                <a:path h="3948436" w="5842000">
                  <a:moveTo>
                    <a:pt x="0" y="0"/>
                  </a:moveTo>
                  <a:lnTo>
                    <a:pt x="5842000" y="0"/>
                  </a:lnTo>
                  <a:lnTo>
                    <a:pt x="5842000" y="3948436"/>
                  </a:lnTo>
                  <a:lnTo>
                    <a:pt x="0" y="394843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9689" t="0" r="-9689" b="31167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180975"/>
              <a:ext cx="5842000" cy="41294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289560" indent="-144780" lvl="1">
                <a:lnSpc>
                  <a:spcPts val="4752"/>
                </a:lnSpc>
                <a:buFont typeface="Arial"/>
                <a:buChar char="•"/>
              </a:pPr>
              <a:r>
                <a:rPr lang="en-US" b="true" sz="2400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TDD</a:t>
              </a:r>
            </a:p>
            <a:p>
              <a:pPr algn="l" marL="289560" indent="-144780" lvl="1">
                <a:lnSpc>
                  <a:spcPts val="4752"/>
                </a:lnSpc>
                <a:buFont typeface="Arial"/>
                <a:buChar char="•"/>
              </a:pPr>
              <a:r>
                <a:rPr lang="en-US" b="true" sz="2400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Pair Programming</a:t>
              </a:r>
            </a:p>
            <a:p>
              <a:pPr algn="l" marL="289560" indent="-144780" lvl="1">
                <a:lnSpc>
                  <a:spcPts val="4752"/>
                </a:lnSpc>
                <a:buFont typeface="Arial"/>
                <a:buChar char="•"/>
              </a:pPr>
              <a:r>
                <a:rPr lang="en-US" b="true" sz="2400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Refactoring</a:t>
              </a:r>
            </a:p>
            <a:p>
              <a:pPr algn="l" marL="289560" indent="-144780" lvl="1">
                <a:lnSpc>
                  <a:spcPts val="4752"/>
                </a:lnSpc>
                <a:buFont typeface="Arial"/>
                <a:buChar char="•"/>
              </a:pPr>
              <a:r>
                <a:rPr lang="en-US" b="true" sz="2400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Small Releases</a:t>
              </a:r>
            </a:p>
            <a:p>
              <a:pPr algn="l" marL="289560" indent="-144780" lvl="1">
                <a:lnSpc>
                  <a:spcPts val="4752"/>
                </a:lnSpc>
                <a:buFont typeface="Arial"/>
                <a:buChar char="•"/>
              </a:pPr>
              <a:r>
                <a:rPr lang="en-US" b="true" sz="2400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Continuous Integration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1696700" y="4572000"/>
            <a:ext cx="685800" cy="685800"/>
            <a:chOff x="0" y="0"/>
            <a:chExt cx="914400" cy="9144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9525"/>
              <a:ext cx="914400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3B5BDB"/>
                  </a:solidFill>
                  <a:latin typeface="Inter Bold"/>
                  <a:ea typeface="Inter Bold"/>
                  <a:cs typeface="Inter Bold"/>
                  <a:sym typeface="Inter Bold"/>
                </a:rPr>
                <a:t>→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2382500" y="2190750"/>
            <a:ext cx="4953000" cy="5524500"/>
            <a:chOff x="0" y="0"/>
            <a:chExt cx="6604000" cy="7366000"/>
          </a:xfrm>
        </p:grpSpPr>
        <p:sp>
          <p:nvSpPr>
            <p:cNvPr name="Freeform 40" id="40" descr="preencoded.png"/>
            <p:cNvSpPr/>
            <p:nvPr/>
          </p:nvSpPr>
          <p:spPr>
            <a:xfrm flipH="false" flipV="false" rot="0">
              <a:off x="0" y="0"/>
              <a:ext cx="6604000" cy="7366000"/>
            </a:xfrm>
            <a:custGeom>
              <a:avLst/>
              <a:gdLst/>
              <a:ahLst/>
              <a:cxnLst/>
              <a:rect r="r" b="b" t="t" l="l"/>
              <a:pathLst>
                <a:path h="7366000" w="6604000">
                  <a:moveTo>
                    <a:pt x="0" y="0"/>
                  </a:moveTo>
                  <a:lnTo>
                    <a:pt x="6604000" y="0"/>
                  </a:lnTo>
                  <a:lnTo>
                    <a:pt x="6604000" y="7366000"/>
                  </a:lnTo>
                  <a:lnTo>
                    <a:pt x="0" y="736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2382500" y="2190750"/>
            <a:ext cx="4953000" cy="1047750"/>
            <a:chOff x="0" y="0"/>
            <a:chExt cx="6604000" cy="1397000"/>
          </a:xfrm>
        </p:grpSpPr>
        <p:sp>
          <p:nvSpPr>
            <p:cNvPr name="Freeform 42" id="42" descr="preencoded.png"/>
            <p:cNvSpPr/>
            <p:nvPr/>
          </p:nvSpPr>
          <p:spPr>
            <a:xfrm flipH="false" flipV="false" rot="0">
              <a:off x="0" y="0"/>
              <a:ext cx="66040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6604000">
                  <a:moveTo>
                    <a:pt x="0" y="0"/>
                  </a:moveTo>
                  <a:lnTo>
                    <a:pt x="6604000" y="0"/>
                  </a:lnTo>
                  <a:lnTo>
                    <a:pt x="6604000" y="1397000"/>
                  </a:lnTo>
                  <a:lnTo>
                    <a:pt x="0" y="1397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2668250" y="2428875"/>
            <a:ext cx="4381500" cy="542925"/>
            <a:chOff x="0" y="0"/>
            <a:chExt cx="5842000" cy="7239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5842000" cy="723900"/>
            </a:xfrm>
            <a:custGeom>
              <a:avLst/>
              <a:gdLst/>
              <a:ahLst/>
              <a:cxnLst/>
              <a:rect r="r" b="b" t="t" l="l"/>
              <a:pathLst>
                <a:path h="723900" w="5842000">
                  <a:moveTo>
                    <a:pt x="0" y="0"/>
                  </a:moveTo>
                  <a:lnTo>
                    <a:pt x="5842000" y="0"/>
                  </a:lnTo>
                  <a:lnTo>
                    <a:pt x="5842000" y="723900"/>
                  </a:lnTo>
                  <a:lnTo>
                    <a:pt x="0" y="7239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7247" r="0" b="-107247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5842000" cy="762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50" b="true">
                  <a:solidFill>
                    <a:srgbClr val="14285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DevOps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2668250" y="2857500"/>
            <a:ext cx="4381500" cy="314325"/>
            <a:chOff x="0" y="0"/>
            <a:chExt cx="5842000" cy="4191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5842000" cy="419100"/>
            </a:xfrm>
            <a:custGeom>
              <a:avLst/>
              <a:gdLst/>
              <a:ahLst/>
              <a:cxnLst/>
              <a:rect r="r" b="b" t="t" l="l"/>
              <a:pathLst>
                <a:path h="419100" w="5842000">
                  <a:moveTo>
                    <a:pt x="0" y="0"/>
                  </a:moveTo>
                  <a:lnTo>
                    <a:pt x="5842000" y="0"/>
                  </a:lnTo>
                  <a:lnTo>
                    <a:pt x="5842000" y="419100"/>
                  </a:lnTo>
                  <a:lnTo>
                    <a:pt x="0" y="4191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21609" r="0" b="-221609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9525"/>
              <a:ext cx="5842000" cy="4286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74"/>
                </a:lnSpc>
              </a:pPr>
              <a:r>
                <a:rPr lang="en-US" sz="2061" b="true">
                  <a:solidFill>
                    <a:srgbClr val="5F3DC4"/>
                  </a:solidFill>
                  <a:latin typeface="Inter Bold"/>
                  <a:ea typeface="Inter Bold"/>
                  <a:cs typeface="Inter Bold"/>
                  <a:sym typeface="Inter Bold"/>
                </a:rPr>
                <a:t>Development + Operations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2668250" y="3619500"/>
            <a:ext cx="4381500" cy="3093437"/>
            <a:chOff x="0" y="0"/>
            <a:chExt cx="5842000" cy="4124582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5842000" cy="4124582"/>
            </a:xfrm>
            <a:custGeom>
              <a:avLst/>
              <a:gdLst/>
              <a:ahLst/>
              <a:cxnLst/>
              <a:rect r="r" b="b" t="t" l="l"/>
              <a:pathLst>
                <a:path h="4124582" w="5842000">
                  <a:moveTo>
                    <a:pt x="0" y="0"/>
                  </a:moveTo>
                  <a:lnTo>
                    <a:pt x="5842000" y="0"/>
                  </a:lnTo>
                  <a:lnTo>
                    <a:pt x="5842000" y="4124582"/>
                  </a:lnTo>
                  <a:lnTo>
                    <a:pt x="0" y="412458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9689" t="0" r="-9689" b="34107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180975"/>
              <a:ext cx="5842000" cy="43055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289560" indent="-144780" lvl="1">
                <a:lnSpc>
                  <a:spcPts val="4752"/>
                </a:lnSpc>
                <a:buFont typeface="Arial"/>
                <a:buChar char="•"/>
              </a:pPr>
              <a:r>
                <a:rPr lang="en-US" b="true" sz="2400">
                  <a:solidFill>
                    <a:srgbClr val="14285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Automation</a:t>
              </a:r>
            </a:p>
            <a:p>
              <a:pPr algn="l" marL="289560" indent="-144780" lvl="1">
                <a:lnSpc>
                  <a:spcPts val="4752"/>
                </a:lnSpc>
                <a:buFont typeface="Arial"/>
                <a:buChar char="•"/>
              </a:pPr>
              <a:r>
                <a:rPr lang="en-US" b="true" sz="2400">
                  <a:solidFill>
                    <a:srgbClr val="14285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CI/CD</a:t>
              </a:r>
            </a:p>
            <a:p>
              <a:pPr algn="l" marL="289560" indent="-144780" lvl="1">
                <a:lnSpc>
                  <a:spcPts val="4752"/>
                </a:lnSpc>
                <a:buFont typeface="Arial"/>
                <a:buChar char="•"/>
              </a:pPr>
              <a:r>
                <a:rPr lang="en-US" b="true" sz="2400">
                  <a:solidFill>
                    <a:srgbClr val="14285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Continuous delivery</a:t>
              </a:r>
            </a:p>
            <a:p>
              <a:pPr algn="l" marL="289560" indent="-144780" lvl="1">
                <a:lnSpc>
                  <a:spcPts val="4752"/>
                </a:lnSpc>
                <a:buFont typeface="Arial"/>
                <a:buChar char="•"/>
              </a:pPr>
              <a:r>
                <a:rPr lang="en-US" b="true" sz="2400">
                  <a:solidFill>
                    <a:srgbClr val="14285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Monitoring</a:t>
              </a:r>
            </a:p>
            <a:p>
              <a:pPr algn="l" marL="289560" indent="-144780" lvl="1">
                <a:lnSpc>
                  <a:spcPts val="4752"/>
                </a:lnSpc>
                <a:buFont typeface="Arial"/>
                <a:buChar char="•"/>
              </a:pPr>
              <a:r>
                <a:rPr lang="en-US" b="true" sz="2400">
                  <a:solidFill>
                    <a:srgbClr val="14285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Fast deployment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952500" y="8191500"/>
            <a:ext cx="16383000" cy="1333500"/>
            <a:chOff x="0" y="0"/>
            <a:chExt cx="21844000" cy="1778000"/>
          </a:xfrm>
        </p:grpSpPr>
        <p:sp>
          <p:nvSpPr>
            <p:cNvPr name="Freeform 53" id="53" descr="preencoded.png"/>
            <p:cNvSpPr/>
            <p:nvPr/>
          </p:nvSpPr>
          <p:spPr>
            <a:xfrm flipH="false" flipV="false" rot="0">
              <a:off x="0" y="0"/>
              <a:ext cx="21844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21844000">
                  <a:moveTo>
                    <a:pt x="0" y="0"/>
                  </a:moveTo>
                  <a:lnTo>
                    <a:pt x="21844000" y="0"/>
                  </a:lnTo>
                  <a:lnTo>
                    <a:pt x="21844000" y="1778000"/>
                  </a:lnTo>
                  <a:lnTo>
                    <a:pt x="0" y="177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1333500" y="8477250"/>
            <a:ext cx="15621000" cy="1047750"/>
            <a:chOff x="0" y="0"/>
            <a:chExt cx="20828000" cy="139700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208280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20828000">
                  <a:moveTo>
                    <a:pt x="0" y="0"/>
                  </a:moveTo>
                  <a:lnTo>
                    <a:pt x="20828000" y="0"/>
                  </a:lnTo>
                  <a:lnTo>
                    <a:pt x="20828000" y="1397000"/>
                  </a:lnTo>
                  <a:lnTo>
                    <a:pt x="0" y="13970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58686" r="0" b="-222322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95250"/>
              <a:ext cx="20828000" cy="1492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88"/>
                </a:lnSpc>
              </a:pPr>
              <a:r>
                <a:rPr lang="en-US" sz="2400" b="true">
                  <a:solidFill>
                    <a:srgbClr val="14285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Agile sets the mindset, XP delivers the engineering practices, and DevOps automates delivery — together enabling fast, reliable software.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95250"/>
            <a:chOff x="0" y="0"/>
            <a:chExt cx="24384000" cy="127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27000"/>
            </a:xfrm>
            <a:custGeom>
              <a:avLst/>
              <a:gdLst/>
              <a:ahLst/>
              <a:cxnLst/>
              <a:rect r="r" b="b" t="t" l="l"/>
              <a:pathLst>
                <a:path h="127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27000"/>
                  </a:lnTo>
                  <a:lnTo>
                    <a:pt x="0" y="127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52500" y="714375"/>
            <a:ext cx="133350" cy="571500"/>
            <a:chOff x="0" y="0"/>
            <a:chExt cx="177800" cy="762000"/>
          </a:xfrm>
        </p:grpSpPr>
        <p:sp>
          <p:nvSpPr>
            <p:cNvPr name="Freeform 5" id="5" descr="preencoded.png"/>
            <p:cNvSpPr/>
            <p:nvPr/>
          </p:nvSpPr>
          <p:spPr>
            <a:xfrm flipH="false" flipV="false" rot="0">
              <a:off x="0" y="0"/>
              <a:ext cx="177800" cy="762000"/>
            </a:xfrm>
            <a:custGeom>
              <a:avLst/>
              <a:gdLst/>
              <a:ahLst/>
              <a:cxnLst/>
              <a:rect r="r" b="b" t="t" l="l"/>
              <a:pathLst>
                <a:path h="762000" w="177800">
                  <a:moveTo>
                    <a:pt x="0" y="0"/>
                  </a:moveTo>
                  <a:lnTo>
                    <a:pt x="177800" y="0"/>
                  </a:lnTo>
                  <a:lnTo>
                    <a:pt x="177800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333500" y="666750"/>
            <a:ext cx="9525000" cy="800100"/>
            <a:chOff x="0" y="0"/>
            <a:chExt cx="12700000" cy="1066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700000" cy="1066800"/>
            </a:xfrm>
            <a:custGeom>
              <a:avLst/>
              <a:gdLst/>
              <a:ahLst/>
              <a:cxnLst/>
              <a:rect r="r" b="b" t="t" l="l"/>
              <a:pathLst>
                <a:path h="1066800" w="12700000">
                  <a:moveTo>
                    <a:pt x="0" y="0"/>
                  </a:moveTo>
                  <a:lnTo>
                    <a:pt x="12700000" y="0"/>
                  </a:lnTo>
                  <a:lnTo>
                    <a:pt x="12700000" y="1066800"/>
                  </a:lnTo>
                  <a:lnTo>
                    <a:pt x="0" y="10668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81964" r="0" b="-181964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2700000" cy="1104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14285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XP Development Cycle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819900" y="2038350"/>
            <a:ext cx="4586288" cy="4586288"/>
            <a:chOff x="0" y="0"/>
            <a:chExt cx="5588000" cy="5588000"/>
          </a:xfrm>
        </p:grpSpPr>
        <p:sp>
          <p:nvSpPr>
            <p:cNvPr name="Freeform 10" id="10" descr="preencoded.png"/>
            <p:cNvSpPr/>
            <p:nvPr/>
          </p:nvSpPr>
          <p:spPr>
            <a:xfrm flipH="false" flipV="false" rot="0">
              <a:off x="0" y="0"/>
              <a:ext cx="5588000" cy="5588000"/>
            </a:xfrm>
            <a:custGeom>
              <a:avLst/>
              <a:gdLst/>
              <a:ahLst/>
              <a:cxnLst/>
              <a:rect r="r" b="b" t="t" l="l"/>
              <a:pathLst>
                <a:path h="5588000" w="5588000">
                  <a:moveTo>
                    <a:pt x="0" y="0"/>
                  </a:moveTo>
                  <a:lnTo>
                    <a:pt x="5588000" y="0"/>
                  </a:lnTo>
                  <a:lnTo>
                    <a:pt x="5588000" y="5588000"/>
                  </a:lnTo>
                  <a:lnTo>
                    <a:pt x="0" y="558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8001000" y="3962876"/>
            <a:ext cx="2286000" cy="485775"/>
            <a:chOff x="0" y="0"/>
            <a:chExt cx="3048000" cy="6477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048000" cy="647700"/>
            </a:xfrm>
            <a:custGeom>
              <a:avLst/>
              <a:gdLst/>
              <a:ahLst/>
              <a:cxnLst/>
              <a:rect r="r" b="b" t="t" l="l"/>
              <a:pathLst>
                <a:path h="647700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647700"/>
                  </a:lnTo>
                  <a:lnTo>
                    <a:pt x="0" y="6477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1694" r="0" b="-41694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3048000" cy="6762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60"/>
                </a:lnSpc>
              </a:pPr>
              <a:r>
                <a:rPr lang="en-US" sz="2550" b="true">
                  <a:solidFill>
                    <a:srgbClr val="5F3DC4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XP Cycle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286750" y="1714500"/>
            <a:ext cx="1714500" cy="685800"/>
            <a:chOff x="0" y="0"/>
            <a:chExt cx="2286000" cy="914400"/>
          </a:xfrm>
        </p:grpSpPr>
        <p:sp>
          <p:nvSpPr>
            <p:cNvPr name="Freeform 15" id="15" descr="preencoded.png"/>
            <p:cNvSpPr/>
            <p:nvPr/>
          </p:nvSpPr>
          <p:spPr>
            <a:xfrm flipH="false" flipV="false" rot="0">
              <a:off x="0" y="0"/>
              <a:ext cx="2286000" cy="914400"/>
            </a:xfrm>
            <a:custGeom>
              <a:avLst/>
              <a:gdLst/>
              <a:ahLst/>
              <a:cxnLst/>
              <a:rect r="r" b="b" t="t" l="l"/>
              <a:pathLst>
                <a:path h="914400" w="2286000">
                  <a:moveTo>
                    <a:pt x="0" y="0"/>
                  </a:moveTo>
                  <a:lnTo>
                    <a:pt x="2286000" y="0"/>
                  </a:lnTo>
                  <a:lnTo>
                    <a:pt x="22860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8286750" y="1905000"/>
            <a:ext cx="1714500" cy="323850"/>
            <a:chOff x="0" y="0"/>
            <a:chExt cx="2286000" cy="431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286000" cy="431800"/>
            </a:xfrm>
            <a:custGeom>
              <a:avLst/>
              <a:gdLst/>
              <a:ahLst/>
              <a:cxnLst/>
              <a:rect r="r" b="b" t="t" l="l"/>
              <a:pathLst>
                <a:path h="431800" w="2286000">
                  <a:moveTo>
                    <a:pt x="0" y="0"/>
                  </a:moveTo>
                  <a:lnTo>
                    <a:pt x="2286000" y="0"/>
                  </a:lnTo>
                  <a:lnTo>
                    <a:pt x="2286000" y="431800"/>
                  </a:lnTo>
                  <a:lnTo>
                    <a:pt x="0" y="4318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3156" r="0" b="-53156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19050"/>
              <a:ext cx="2286000" cy="450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74"/>
                </a:lnSpc>
              </a:pPr>
              <a:r>
                <a:rPr lang="en-US" sz="2061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User Story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0153650" y="2705100"/>
            <a:ext cx="1714500" cy="685800"/>
            <a:chOff x="0" y="0"/>
            <a:chExt cx="2286000" cy="914400"/>
          </a:xfrm>
        </p:grpSpPr>
        <p:sp>
          <p:nvSpPr>
            <p:cNvPr name="Freeform 20" id="20" descr="preencoded.png"/>
            <p:cNvSpPr/>
            <p:nvPr/>
          </p:nvSpPr>
          <p:spPr>
            <a:xfrm flipH="false" flipV="false" rot="0">
              <a:off x="0" y="0"/>
              <a:ext cx="2286000" cy="914400"/>
            </a:xfrm>
            <a:custGeom>
              <a:avLst/>
              <a:gdLst/>
              <a:ahLst/>
              <a:cxnLst/>
              <a:rect r="r" b="b" t="t" l="l"/>
              <a:pathLst>
                <a:path h="914400" w="2286000">
                  <a:moveTo>
                    <a:pt x="0" y="0"/>
                  </a:moveTo>
                  <a:lnTo>
                    <a:pt x="2286000" y="0"/>
                  </a:lnTo>
                  <a:lnTo>
                    <a:pt x="22860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0153650" y="2895600"/>
            <a:ext cx="1714500" cy="323850"/>
            <a:chOff x="0" y="0"/>
            <a:chExt cx="2286000" cy="431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286000" cy="431800"/>
            </a:xfrm>
            <a:custGeom>
              <a:avLst/>
              <a:gdLst/>
              <a:ahLst/>
              <a:cxnLst/>
              <a:rect r="r" b="b" t="t" l="l"/>
              <a:pathLst>
                <a:path h="431800" w="2286000">
                  <a:moveTo>
                    <a:pt x="0" y="0"/>
                  </a:moveTo>
                  <a:lnTo>
                    <a:pt x="2286000" y="0"/>
                  </a:lnTo>
                  <a:lnTo>
                    <a:pt x="2286000" y="431800"/>
                  </a:lnTo>
                  <a:lnTo>
                    <a:pt x="0" y="4318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3156" r="0" b="-53156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9050"/>
              <a:ext cx="2286000" cy="450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74"/>
                </a:lnSpc>
              </a:pPr>
              <a:r>
                <a:rPr lang="en-US" sz="2061" b="true">
                  <a:solidFill>
                    <a:srgbClr val="14285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Planning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0610850" y="4724400"/>
            <a:ext cx="1714500" cy="685800"/>
            <a:chOff x="0" y="0"/>
            <a:chExt cx="2286000" cy="914400"/>
          </a:xfrm>
        </p:grpSpPr>
        <p:sp>
          <p:nvSpPr>
            <p:cNvPr name="Freeform 25" id="25" descr="preencoded.png"/>
            <p:cNvSpPr/>
            <p:nvPr/>
          </p:nvSpPr>
          <p:spPr>
            <a:xfrm flipH="false" flipV="false" rot="0">
              <a:off x="0" y="0"/>
              <a:ext cx="2286000" cy="914400"/>
            </a:xfrm>
            <a:custGeom>
              <a:avLst/>
              <a:gdLst/>
              <a:ahLst/>
              <a:cxnLst/>
              <a:rect r="r" b="b" t="t" l="l"/>
              <a:pathLst>
                <a:path h="914400" w="2286000">
                  <a:moveTo>
                    <a:pt x="0" y="0"/>
                  </a:moveTo>
                  <a:lnTo>
                    <a:pt x="2286000" y="0"/>
                  </a:lnTo>
                  <a:lnTo>
                    <a:pt x="22860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0610850" y="4914900"/>
            <a:ext cx="1714500" cy="323850"/>
            <a:chOff x="0" y="0"/>
            <a:chExt cx="2286000" cy="431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286000" cy="431800"/>
            </a:xfrm>
            <a:custGeom>
              <a:avLst/>
              <a:gdLst/>
              <a:ahLst/>
              <a:cxnLst/>
              <a:rect r="r" b="b" t="t" l="l"/>
              <a:pathLst>
                <a:path h="431800" w="2286000">
                  <a:moveTo>
                    <a:pt x="0" y="0"/>
                  </a:moveTo>
                  <a:lnTo>
                    <a:pt x="2286000" y="0"/>
                  </a:lnTo>
                  <a:lnTo>
                    <a:pt x="2286000" y="431800"/>
                  </a:lnTo>
                  <a:lnTo>
                    <a:pt x="0" y="4318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3156" r="0" b="-53156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19050"/>
              <a:ext cx="2286000" cy="450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74"/>
                </a:lnSpc>
              </a:pPr>
              <a:r>
                <a:rPr lang="en-US" sz="2061" b="true">
                  <a:solidFill>
                    <a:srgbClr val="14285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Coding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324975" y="6334125"/>
            <a:ext cx="1714500" cy="685800"/>
            <a:chOff x="0" y="0"/>
            <a:chExt cx="2286000" cy="914400"/>
          </a:xfrm>
        </p:grpSpPr>
        <p:sp>
          <p:nvSpPr>
            <p:cNvPr name="Freeform 30" id="30" descr="preencoded.png"/>
            <p:cNvSpPr/>
            <p:nvPr/>
          </p:nvSpPr>
          <p:spPr>
            <a:xfrm flipH="false" flipV="false" rot="0">
              <a:off x="0" y="0"/>
              <a:ext cx="2286000" cy="914400"/>
            </a:xfrm>
            <a:custGeom>
              <a:avLst/>
              <a:gdLst/>
              <a:ahLst/>
              <a:cxnLst/>
              <a:rect r="r" b="b" t="t" l="l"/>
              <a:pathLst>
                <a:path h="914400" w="2286000">
                  <a:moveTo>
                    <a:pt x="0" y="0"/>
                  </a:moveTo>
                  <a:lnTo>
                    <a:pt x="2286000" y="0"/>
                  </a:lnTo>
                  <a:lnTo>
                    <a:pt x="22860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9324975" y="6524625"/>
            <a:ext cx="1714500" cy="323850"/>
            <a:chOff x="0" y="0"/>
            <a:chExt cx="2286000" cy="4318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286000" cy="431800"/>
            </a:xfrm>
            <a:custGeom>
              <a:avLst/>
              <a:gdLst/>
              <a:ahLst/>
              <a:cxnLst/>
              <a:rect r="r" b="b" t="t" l="l"/>
              <a:pathLst>
                <a:path h="431800" w="2286000">
                  <a:moveTo>
                    <a:pt x="0" y="0"/>
                  </a:moveTo>
                  <a:lnTo>
                    <a:pt x="2286000" y="0"/>
                  </a:lnTo>
                  <a:lnTo>
                    <a:pt x="2286000" y="431800"/>
                  </a:lnTo>
                  <a:lnTo>
                    <a:pt x="0" y="4318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3156" r="0" b="-53156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19050"/>
              <a:ext cx="2286000" cy="450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74"/>
                </a:lnSpc>
              </a:pPr>
              <a:r>
                <a:rPr lang="en-US" sz="2061" b="true">
                  <a:solidFill>
                    <a:srgbClr val="14285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Testing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7248525" y="6334125"/>
            <a:ext cx="1714500" cy="685800"/>
            <a:chOff x="0" y="0"/>
            <a:chExt cx="2286000" cy="914400"/>
          </a:xfrm>
        </p:grpSpPr>
        <p:sp>
          <p:nvSpPr>
            <p:cNvPr name="Freeform 35" id="35" descr="preencoded.png"/>
            <p:cNvSpPr/>
            <p:nvPr/>
          </p:nvSpPr>
          <p:spPr>
            <a:xfrm flipH="false" flipV="false" rot="0">
              <a:off x="0" y="0"/>
              <a:ext cx="2286000" cy="914400"/>
            </a:xfrm>
            <a:custGeom>
              <a:avLst/>
              <a:gdLst/>
              <a:ahLst/>
              <a:cxnLst/>
              <a:rect r="r" b="b" t="t" l="l"/>
              <a:pathLst>
                <a:path h="914400" w="2286000">
                  <a:moveTo>
                    <a:pt x="0" y="0"/>
                  </a:moveTo>
                  <a:lnTo>
                    <a:pt x="2286000" y="0"/>
                  </a:lnTo>
                  <a:lnTo>
                    <a:pt x="22860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7248525" y="6524625"/>
            <a:ext cx="1714500" cy="504348"/>
            <a:chOff x="0" y="0"/>
            <a:chExt cx="2286000" cy="672464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286000" cy="672464"/>
            </a:xfrm>
            <a:custGeom>
              <a:avLst/>
              <a:gdLst/>
              <a:ahLst/>
              <a:cxnLst/>
              <a:rect r="r" b="b" t="t" l="l"/>
              <a:pathLst>
                <a:path h="672464" w="2286000">
                  <a:moveTo>
                    <a:pt x="0" y="0"/>
                  </a:moveTo>
                  <a:lnTo>
                    <a:pt x="2286000" y="0"/>
                  </a:lnTo>
                  <a:lnTo>
                    <a:pt x="2286000" y="672464"/>
                  </a:lnTo>
                  <a:lnTo>
                    <a:pt x="0" y="6724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4132" r="0" b="1656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19050"/>
              <a:ext cx="2286000" cy="6915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74"/>
                </a:lnSpc>
              </a:pPr>
              <a:r>
                <a:rPr lang="en-US" sz="2061" b="true">
                  <a:solidFill>
                    <a:srgbClr val="14285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Integration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5962650" y="4724400"/>
            <a:ext cx="1714500" cy="685800"/>
            <a:chOff x="0" y="0"/>
            <a:chExt cx="2286000" cy="914400"/>
          </a:xfrm>
        </p:grpSpPr>
        <p:sp>
          <p:nvSpPr>
            <p:cNvPr name="Freeform 40" id="40" descr="preencoded.png"/>
            <p:cNvSpPr/>
            <p:nvPr/>
          </p:nvSpPr>
          <p:spPr>
            <a:xfrm flipH="false" flipV="false" rot="0">
              <a:off x="0" y="0"/>
              <a:ext cx="2286000" cy="914400"/>
            </a:xfrm>
            <a:custGeom>
              <a:avLst/>
              <a:gdLst/>
              <a:ahLst/>
              <a:cxnLst/>
              <a:rect r="r" b="b" t="t" l="l"/>
              <a:pathLst>
                <a:path h="914400" w="2286000">
                  <a:moveTo>
                    <a:pt x="0" y="0"/>
                  </a:moveTo>
                  <a:lnTo>
                    <a:pt x="2286000" y="0"/>
                  </a:lnTo>
                  <a:lnTo>
                    <a:pt x="22860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5962650" y="4600575"/>
            <a:ext cx="1714500" cy="895350"/>
            <a:chOff x="0" y="0"/>
            <a:chExt cx="2286000" cy="11938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286000" cy="1193800"/>
            </a:xfrm>
            <a:custGeom>
              <a:avLst/>
              <a:gdLst/>
              <a:ahLst/>
              <a:cxnLst/>
              <a:rect r="r" b="b" t="t" l="l"/>
              <a:pathLst>
                <a:path h="1193800" w="2286000">
                  <a:moveTo>
                    <a:pt x="0" y="0"/>
                  </a:moveTo>
                  <a:lnTo>
                    <a:pt x="2286000" y="0"/>
                  </a:lnTo>
                  <a:lnTo>
                    <a:pt x="2286000" y="1193800"/>
                  </a:lnTo>
                  <a:lnTo>
                    <a:pt x="0" y="11938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4545" r="0" b="49922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47625"/>
              <a:ext cx="2286000" cy="12414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21"/>
                </a:lnSpc>
              </a:pPr>
              <a:r>
                <a:rPr lang="en-US" sz="2061" b="true">
                  <a:solidFill>
                    <a:srgbClr val="14285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Small Release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6419850" y="2705100"/>
            <a:ext cx="1714500" cy="685800"/>
            <a:chOff x="0" y="0"/>
            <a:chExt cx="2286000" cy="914400"/>
          </a:xfrm>
        </p:grpSpPr>
        <p:sp>
          <p:nvSpPr>
            <p:cNvPr name="Freeform 45" id="45" descr="preencoded.png"/>
            <p:cNvSpPr/>
            <p:nvPr/>
          </p:nvSpPr>
          <p:spPr>
            <a:xfrm flipH="false" flipV="false" rot="0">
              <a:off x="0" y="0"/>
              <a:ext cx="2286000" cy="914400"/>
            </a:xfrm>
            <a:custGeom>
              <a:avLst/>
              <a:gdLst/>
              <a:ahLst/>
              <a:cxnLst/>
              <a:rect r="r" b="b" t="t" l="l"/>
              <a:pathLst>
                <a:path h="914400" w="2286000">
                  <a:moveTo>
                    <a:pt x="0" y="0"/>
                  </a:moveTo>
                  <a:lnTo>
                    <a:pt x="2286000" y="0"/>
                  </a:lnTo>
                  <a:lnTo>
                    <a:pt x="22860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6391275" y="2666762"/>
            <a:ext cx="1714500" cy="781526"/>
            <a:chOff x="0" y="0"/>
            <a:chExt cx="2286000" cy="1042035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286000" cy="1042035"/>
            </a:xfrm>
            <a:custGeom>
              <a:avLst/>
              <a:gdLst/>
              <a:ahLst/>
              <a:cxnLst/>
              <a:rect r="r" b="b" t="t" l="l"/>
              <a:pathLst>
                <a:path h="1042035" w="2286000">
                  <a:moveTo>
                    <a:pt x="0" y="0"/>
                  </a:moveTo>
                  <a:lnTo>
                    <a:pt x="2286000" y="0"/>
                  </a:lnTo>
                  <a:lnTo>
                    <a:pt x="2286000" y="1042035"/>
                  </a:lnTo>
                  <a:lnTo>
                    <a:pt x="0" y="104203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5933" r="0" b="30441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2286000" cy="10801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75"/>
                </a:lnSpc>
              </a:pPr>
              <a:r>
                <a:rPr lang="en-US" sz="1875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Customer Feedback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333500" y="7620000"/>
            <a:ext cx="7715250" cy="1905000"/>
            <a:chOff x="0" y="0"/>
            <a:chExt cx="10287000" cy="2540000"/>
          </a:xfrm>
        </p:grpSpPr>
        <p:sp>
          <p:nvSpPr>
            <p:cNvPr name="Freeform 50" id="50" descr="preencoded.png"/>
            <p:cNvSpPr/>
            <p:nvPr/>
          </p:nvSpPr>
          <p:spPr>
            <a:xfrm flipH="false" flipV="false" rot="0">
              <a:off x="0" y="0"/>
              <a:ext cx="10287000" cy="2540000"/>
            </a:xfrm>
            <a:custGeom>
              <a:avLst/>
              <a:gdLst/>
              <a:ahLst/>
              <a:cxnLst/>
              <a:rect r="r" b="b" t="t" l="l"/>
              <a:pathLst>
                <a:path h="2540000" w="10287000">
                  <a:moveTo>
                    <a:pt x="0" y="0"/>
                  </a:moveTo>
                  <a:lnTo>
                    <a:pt x="10287000" y="0"/>
                  </a:lnTo>
                  <a:lnTo>
                    <a:pt x="10287000" y="2540000"/>
                  </a:lnTo>
                  <a:lnTo>
                    <a:pt x="0" y="2540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1619250" y="7858125"/>
            <a:ext cx="7143750" cy="371475"/>
            <a:chOff x="0" y="0"/>
            <a:chExt cx="9525000" cy="4953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9525000" cy="495300"/>
            </a:xfrm>
            <a:custGeom>
              <a:avLst/>
              <a:gdLst/>
              <a:ahLst/>
              <a:cxnLst/>
              <a:rect r="r" b="b" t="t" l="l"/>
              <a:pathLst>
                <a:path h="495300" w="9525000">
                  <a:moveTo>
                    <a:pt x="0" y="0"/>
                  </a:moveTo>
                  <a:lnTo>
                    <a:pt x="9525000" y="0"/>
                  </a:lnTo>
                  <a:lnTo>
                    <a:pt x="9525000" y="495300"/>
                  </a:lnTo>
                  <a:lnTo>
                    <a:pt x="0" y="4953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24712" r="0" b="-324712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19050"/>
              <a:ext cx="9525000" cy="514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8A94A6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Traditional Approach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519238" y="8274279"/>
            <a:ext cx="7343775" cy="948867"/>
            <a:chOff x="0" y="0"/>
            <a:chExt cx="9525000" cy="1230696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9525000" cy="1230696"/>
            </a:xfrm>
            <a:custGeom>
              <a:avLst/>
              <a:gdLst/>
              <a:ahLst/>
              <a:cxnLst/>
              <a:rect r="r" b="b" t="t" l="l"/>
              <a:pathLst>
                <a:path h="1230696" w="9525000">
                  <a:moveTo>
                    <a:pt x="0" y="0"/>
                  </a:moveTo>
                  <a:lnTo>
                    <a:pt x="9525000" y="0"/>
                  </a:lnTo>
                  <a:lnTo>
                    <a:pt x="9525000" y="1230696"/>
                  </a:lnTo>
                  <a:lnTo>
                    <a:pt x="0" y="123069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3261" r="0" b="-68347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104775"/>
              <a:ext cx="9525000" cy="13354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79"/>
                </a:lnSpc>
              </a:pPr>
              <a:r>
                <a:rPr lang="en-US" sz="2250" b="true">
                  <a:solidFill>
                    <a:srgbClr val="4A5568"/>
                  </a:solidFill>
                  <a:latin typeface="Inter Bold"/>
                  <a:ea typeface="Inter Bold"/>
                  <a:cs typeface="Inter Bold"/>
                  <a:sym typeface="Inter Bold"/>
                </a:rPr>
                <a:t>Plan → Develop → Test → Release (one large delivery)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9239250" y="7620000"/>
            <a:ext cx="7715250" cy="1905000"/>
            <a:chOff x="0" y="0"/>
            <a:chExt cx="10287000" cy="2540000"/>
          </a:xfrm>
        </p:grpSpPr>
        <p:sp>
          <p:nvSpPr>
            <p:cNvPr name="Freeform 58" id="58" descr="preencoded.png"/>
            <p:cNvSpPr/>
            <p:nvPr/>
          </p:nvSpPr>
          <p:spPr>
            <a:xfrm flipH="false" flipV="false" rot="0">
              <a:off x="0" y="0"/>
              <a:ext cx="10287000" cy="2540000"/>
            </a:xfrm>
            <a:custGeom>
              <a:avLst/>
              <a:gdLst/>
              <a:ahLst/>
              <a:cxnLst/>
              <a:rect r="r" b="b" t="t" l="l"/>
              <a:pathLst>
                <a:path h="2540000" w="10287000">
                  <a:moveTo>
                    <a:pt x="0" y="0"/>
                  </a:moveTo>
                  <a:lnTo>
                    <a:pt x="10287000" y="0"/>
                  </a:lnTo>
                  <a:lnTo>
                    <a:pt x="10287000" y="2540000"/>
                  </a:lnTo>
                  <a:lnTo>
                    <a:pt x="0" y="2540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9525000" y="7858125"/>
            <a:ext cx="7143750" cy="371475"/>
            <a:chOff x="0" y="0"/>
            <a:chExt cx="9525000" cy="49530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9525000" cy="495300"/>
            </a:xfrm>
            <a:custGeom>
              <a:avLst/>
              <a:gdLst/>
              <a:ahLst/>
              <a:cxnLst/>
              <a:rect r="r" b="b" t="t" l="l"/>
              <a:pathLst>
                <a:path h="495300" w="9525000">
                  <a:moveTo>
                    <a:pt x="0" y="0"/>
                  </a:moveTo>
                  <a:lnTo>
                    <a:pt x="9525000" y="0"/>
                  </a:lnTo>
                  <a:lnTo>
                    <a:pt x="9525000" y="495300"/>
                  </a:lnTo>
                  <a:lnTo>
                    <a:pt x="0" y="4953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24712" r="0" b="-324712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19050"/>
              <a:ext cx="9525000" cy="514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XP Approach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9324975" y="8229600"/>
            <a:ext cx="7143750" cy="948867"/>
            <a:chOff x="0" y="0"/>
            <a:chExt cx="9525000" cy="1265156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9525000" cy="1265156"/>
            </a:xfrm>
            <a:custGeom>
              <a:avLst/>
              <a:gdLst/>
              <a:ahLst/>
              <a:cxnLst/>
              <a:rect r="r" b="b" t="t" l="l"/>
              <a:pathLst>
                <a:path h="1265156" w="9525000">
                  <a:moveTo>
                    <a:pt x="0" y="0"/>
                  </a:moveTo>
                  <a:lnTo>
                    <a:pt x="9525000" y="0"/>
                  </a:lnTo>
                  <a:lnTo>
                    <a:pt x="9525000" y="1265156"/>
                  </a:lnTo>
                  <a:lnTo>
                    <a:pt x="0" y="126515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13069" r="0" b="-80325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104775"/>
              <a:ext cx="9525000" cy="13699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79"/>
                </a:lnSpc>
              </a:pPr>
              <a:r>
                <a:rPr lang="en-US" sz="2250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Plan → Code → Test → Feedback → Improve → Release → Repeat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333500" y="7129462"/>
            <a:ext cx="15621000" cy="381000"/>
            <a:chOff x="0" y="0"/>
            <a:chExt cx="20828000" cy="50800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20828000" cy="508000"/>
            </a:xfrm>
            <a:custGeom>
              <a:avLst/>
              <a:gdLst/>
              <a:ahLst/>
              <a:cxnLst/>
              <a:rect r="r" b="b" t="t" l="l"/>
              <a:pathLst>
                <a:path h="508000" w="20828000">
                  <a:moveTo>
                    <a:pt x="0" y="0"/>
                  </a:moveTo>
                  <a:lnTo>
                    <a:pt x="20828000" y="0"/>
                  </a:lnTo>
                  <a:lnTo>
                    <a:pt x="20828000" y="508000"/>
                  </a:lnTo>
                  <a:lnTo>
                    <a:pt x="0" y="5080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48886" r="0" b="-748886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0"/>
              <a:ext cx="20828000" cy="508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5F3DC4"/>
                  </a:solidFill>
                  <a:latin typeface="Inter Bold"/>
                  <a:ea typeface="Inter Bold"/>
                  <a:cs typeface="Inter Bold"/>
                  <a:sym typeface="Inter Bold"/>
                </a:rPr>
                <a:t>XP works in short cycles instead of waiting months for one large release.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95250"/>
            <a:chOff x="0" y="0"/>
            <a:chExt cx="24384000" cy="127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27000"/>
            </a:xfrm>
            <a:custGeom>
              <a:avLst/>
              <a:gdLst/>
              <a:ahLst/>
              <a:cxnLst/>
              <a:rect r="r" b="b" t="t" l="l"/>
              <a:pathLst>
                <a:path h="127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27000"/>
                  </a:lnTo>
                  <a:lnTo>
                    <a:pt x="0" y="127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52500" y="714375"/>
            <a:ext cx="133350" cy="571500"/>
            <a:chOff x="0" y="0"/>
            <a:chExt cx="177800" cy="762000"/>
          </a:xfrm>
        </p:grpSpPr>
        <p:sp>
          <p:nvSpPr>
            <p:cNvPr name="Freeform 5" id="5" descr="preencoded.png"/>
            <p:cNvSpPr/>
            <p:nvPr/>
          </p:nvSpPr>
          <p:spPr>
            <a:xfrm flipH="false" flipV="false" rot="0">
              <a:off x="0" y="0"/>
              <a:ext cx="177800" cy="762000"/>
            </a:xfrm>
            <a:custGeom>
              <a:avLst/>
              <a:gdLst/>
              <a:ahLst/>
              <a:cxnLst/>
              <a:rect r="r" b="b" t="t" l="l"/>
              <a:pathLst>
                <a:path h="762000" w="177800">
                  <a:moveTo>
                    <a:pt x="0" y="0"/>
                  </a:moveTo>
                  <a:lnTo>
                    <a:pt x="177800" y="0"/>
                  </a:lnTo>
                  <a:lnTo>
                    <a:pt x="177800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333500" y="666750"/>
            <a:ext cx="9525000" cy="800100"/>
            <a:chOff x="0" y="0"/>
            <a:chExt cx="12700000" cy="1066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700000" cy="1066800"/>
            </a:xfrm>
            <a:custGeom>
              <a:avLst/>
              <a:gdLst/>
              <a:ahLst/>
              <a:cxnLst/>
              <a:rect r="r" b="b" t="t" l="l"/>
              <a:pathLst>
                <a:path h="1066800" w="12700000">
                  <a:moveTo>
                    <a:pt x="0" y="0"/>
                  </a:moveTo>
                  <a:lnTo>
                    <a:pt x="12700000" y="0"/>
                  </a:lnTo>
                  <a:lnTo>
                    <a:pt x="12700000" y="1066800"/>
                  </a:lnTo>
                  <a:lnTo>
                    <a:pt x="0" y="10668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81964" r="0" b="-181964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2700000" cy="1104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14285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Benefits &amp; Conclusion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333500" y="2000250"/>
            <a:ext cx="7239000" cy="342900"/>
            <a:chOff x="0" y="0"/>
            <a:chExt cx="9652000" cy="4572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652000" cy="457200"/>
            </a:xfrm>
            <a:custGeom>
              <a:avLst/>
              <a:gdLst/>
              <a:ahLst/>
              <a:cxnLst/>
              <a:rect r="r" b="b" t="t" l="l"/>
              <a:pathLst>
                <a:path h="457200" w="9652000">
                  <a:moveTo>
                    <a:pt x="0" y="0"/>
                  </a:moveTo>
                  <a:lnTo>
                    <a:pt x="9652000" y="0"/>
                  </a:lnTo>
                  <a:lnTo>
                    <a:pt x="96520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61350" r="0" b="-36135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9652000" cy="466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5F3DC4"/>
                  </a:solidFill>
                  <a:latin typeface="Inter Bold"/>
                  <a:ea typeface="Inter Bold"/>
                  <a:cs typeface="Inter Bold"/>
                  <a:sym typeface="Inter Bold"/>
                </a:rPr>
                <a:t>BENEFITS OF XP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333500" y="2667000"/>
            <a:ext cx="7239000" cy="3710477"/>
            <a:chOff x="0" y="0"/>
            <a:chExt cx="9652000" cy="494730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652000" cy="4947303"/>
            </a:xfrm>
            <a:custGeom>
              <a:avLst/>
              <a:gdLst/>
              <a:ahLst/>
              <a:cxnLst/>
              <a:rect r="r" b="b" t="t" l="l"/>
              <a:pathLst>
                <a:path h="4947303" w="9652000">
                  <a:moveTo>
                    <a:pt x="0" y="0"/>
                  </a:moveTo>
                  <a:lnTo>
                    <a:pt x="9652000" y="0"/>
                  </a:lnTo>
                  <a:lnTo>
                    <a:pt x="9652000" y="4947303"/>
                  </a:lnTo>
                  <a:lnTo>
                    <a:pt x="0" y="494730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872" r="0" b="27843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247650"/>
              <a:ext cx="9652000" cy="51949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289560" indent="-144780" lvl="1">
                <a:lnSpc>
                  <a:spcPts val="5472"/>
                </a:lnSpc>
                <a:buFont typeface="Arial"/>
                <a:buChar char="•"/>
              </a:pPr>
              <a:r>
                <a:rPr lang="en-US" b="true" sz="2400">
                  <a:solidFill>
                    <a:srgbClr val="14285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Higher Quality — tested, reliable code</a:t>
              </a:r>
            </a:p>
            <a:p>
              <a:pPr algn="l" marL="289560" indent="-144780" lvl="1">
                <a:lnSpc>
                  <a:spcPts val="5472"/>
                </a:lnSpc>
                <a:buFont typeface="Arial"/>
                <a:buChar char="•"/>
              </a:pPr>
              <a:r>
                <a:rPr lang="en-US" b="true" sz="2400">
                  <a:solidFill>
                    <a:srgbClr val="14285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Faster Feedback — issues caught early</a:t>
              </a:r>
            </a:p>
            <a:p>
              <a:pPr algn="l" marL="289560" indent="-144780" lvl="1">
                <a:lnSpc>
                  <a:spcPts val="5472"/>
                </a:lnSpc>
                <a:buFont typeface="Arial"/>
                <a:buChar char="•"/>
              </a:pPr>
              <a:r>
                <a:rPr lang="en-US" b="true" sz="2400">
                  <a:solidFill>
                    <a:srgbClr val="14285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Less Risk — small, safe releases</a:t>
              </a:r>
            </a:p>
            <a:p>
              <a:pPr algn="l" marL="289560" indent="-144780" lvl="1">
                <a:lnSpc>
                  <a:spcPts val="5472"/>
                </a:lnSpc>
                <a:buFont typeface="Arial"/>
                <a:buChar char="•"/>
              </a:pPr>
              <a:r>
                <a:rPr lang="en-US" b="true" sz="2400">
                  <a:solidFill>
                    <a:srgbClr val="14285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Better Teamwork — close collaboration</a:t>
              </a:r>
            </a:p>
            <a:p>
              <a:pPr algn="l" marL="289560" indent="-144780" lvl="1">
                <a:lnSpc>
                  <a:spcPts val="5472"/>
                </a:lnSpc>
                <a:buFont typeface="Arial"/>
                <a:buChar char="•"/>
              </a:pPr>
              <a:r>
                <a:rPr lang="en-US" b="true" sz="2400">
                  <a:solidFill>
                    <a:srgbClr val="14285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Easy to Adapt — welcomes change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525000" y="2000250"/>
            <a:ext cx="7810500" cy="5048250"/>
            <a:chOff x="0" y="0"/>
            <a:chExt cx="10414000" cy="6731000"/>
          </a:xfrm>
        </p:grpSpPr>
        <p:sp>
          <p:nvSpPr>
            <p:cNvPr name="Freeform 16" id="16" descr="preencoded.png"/>
            <p:cNvSpPr/>
            <p:nvPr/>
          </p:nvSpPr>
          <p:spPr>
            <a:xfrm flipH="false" flipV="false" rot="0">
              <a:off x="0" y="0"/>
              <a:ext cx="10414000" cy="6731000"/>
            </a:xfrm>
            <a:custGeom>
              <a:avLst/>
              <a:gdLst/>
              <a:ahLst/>
              <a:cxnLst/>
              <a:rect r="r" b="b" t="t" l="l"/>
              <a:pathLst>
                <a:path h="6731000" w="10414000">
                  <a:moveTo>
                    <a:pt x="0" y="0"/>
                  </a:moveTo>
                  <a:lnTo>
                    <a:pt x="10414000" y="0"/>
                  </a:lnTo>
                  <a:lnTo>
                    <a:pt x="10414000" y="6731000"/>
                  </a:lnTo>
                  <a:lnTo>
                    <a:pt x="0" y="673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9906000" y="2171700"/>
            <a:ext cx="7048500" cy="342900"/>
            <a:chOff x="0" y="0"/>
            <a:chExt cx="9398000" cy="4572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398000" cy="457200"/>
            </a:xfrm>
            <a:custGeom>
              <a:avLst/>
              <a:gdLst/>
              <a:ahLst/>
              <a:cxnLst/>
              <a:rect r="r" b="b" t="t" l="l"/>
              <a:pathLst>
                <a:path h="457200" w="9398000">
                  <a:moveTo>
                    <a:pt x="0" y="0"/>
                  </a:moveTo>
                  <a:lnTo>
                    <a:pt x="9398000" y="0"/>
                  </a:lnTo>
                  <a:lnTo>
                    <a:pt x="93980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50525" r="0" b="-350525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"/>
              <a:ext cx="9398000" cy="466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5F3DC4"/>
                  </a:solidFill>
                  <a:latin typeface="Inter Bold"/>
                  <a:ea typeface="Inter Bold"/>
                  <a:cs typeface="Inter Bold"/>
                  <a:sym typeface="Inter Bold"/>
                </a:rPr>
                <a:t>CONCLUSION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906000" y="3048000"/>
            <a:ext cx="7048500" cy="3760024"/>
            <a:chOff x="0" y="0"/>
            <a:chExt cx="9398000" cy="501336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398000" cy="5013365"/>
            </a:xfrm>
            <a:custGeom>
              <a:avLst/>
              <a:gdLst/>
              <a:ahLst/>
              <a:cxnLst/>
              <a:rect r="r" b="b" t="t" l="l"/>
              <a:pathLst>
                <a:path h="5013365" w="9398000">
                  <a:moveTo>
                    <a:pt x="0" y="0"/>
                  </a:moveTo>
                  <a:lnTo>
                    <a:pt x="9398000" y="0"/>
                  </a:lnTo>
                  <a:lnTo>
                    <a:pt x="9398000" y="5013365"/>
                  </a:lnTo>
                  <a:lnTo>
                    <a:pt x="0" y="501336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927" r="0" b="36874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142875"/>
              <a:ext cx="9398000" cy="51562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2400" b="true">
                  <a:solidFill>
                    <a:srgbClr val="14285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Extreme Programming helps teams deliver better software faster. By combining continuous testing, close customer collaboration, and short feedback loops, XP reduces risk and keeps quality high — making it a strong fit for modern Agile and DevOps environments.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333500" y="7429500"/>
            <a:ext cx="16002000" cy="1143000"/>
            <a:chOff x="0" y="0"/>
            <a:chExt cx="21336000" cy="1524000"/>
          </a:xfrm>
        </p:grpSpPr>
        <p:sp>
          <p:nvSpPr>
            <p:cNvPr name="Freeform 24" id="24" descr="preencoded.png"/>
            <p:cNvSpPr/>
            <p:nvPr/>
          </p:nvSpPr>
          <p:spPr>
            <a:xfrm flipH="false" flipV="false" rot="0">
              <a:off x="0" y="0"/>
              <a:ext cx="21336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21336000">
                  <a:moveTo>
                    <a:pt x="0" y="0"/>
                  </a:moveTo>
                  <a:lnTo>
                    <a:pt x="21336000" y="0"/>
                  </a:lnTo>
                  <a:lnTo>
                    <a:pt x="21336000" y="1524000"/>
                  </a:lnTo>
                  <a:lnTo>
                    <a:pt x="0" y="152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714500" y="7715250"/>
            <a:ext cx="15240000" cy="485775"/>
            <a:chOff x="0" y="0"/>
            <a:chExt cx="20320000" cy="6477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0320000" cy="647700"/>
            </a:xfrm>
            <a:custGeom>
              <a:avLst/>
              <a:gdLst/>
              <a:ahLst/>
              <a:cxnLst/>
              <a:rect r="r" b="b" t="t" l="l"/>
              <a:pathLst>
                <a:path h="647700" w="20320000">
                  <a:moveTo>
                    <a:pt x="0" y="0"/>
                  </a:moveTo>
                  <a:lnTo>
                    <a:pt x="20320000" y="0"/>
                  </a:lnTo>
                  <a:lnTo>
                    <a:pt x="20320000" y="647700"/>
                  </a:lnTo>
                  <a:lnTo>
                    <a:pt x="0" y="6477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61295" r="0" b="-561295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28575"/>
              <a:ext cx="20320000" cy="6762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60"/>
                </a:lnSpc>
              </a:pPr>
              <a:r>
                <a:rPr lang="en-US" sz="2550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Build Small → Test Often → Get Feedback → Improve Continuously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4381500" y="8953500"/>
            <a:ext cx="9525000" cy="571500"/>
            <a:chOff x="0" y="0"/>
            <a:chExt cx="12700000" cy="7620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2700000" cy="762000"/>
            </a:xfrm>
            <a:custGeom>
              <a:avLst/>
              <a:gdLst/>
              <a:ahLst/>
              <a:cxnLst/>
              <a:rect r="r" b="b" t="t" l="l"/>
              <a:pathLst>
                <a:path h="762000" w="12700000">
                  <a:moveTo>
                    <a:pt x="0" y="0"/>
                  </a:moveTo>
                  <a:lnTo>
                    <a:pt x="12700000" y="0"/>
                  </a:lnTo>
                  <a:lnTo>
                    <a:pt x="12700000" y="762000"/>
                  </a:lnTo>
                  <a:lnTo>
                    <a:pt x="0" y="7620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28575"/>
              <a:ext cx="12700000" cy="790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14285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Thank You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DAHSW_VsCvA</dc:identifier>
  <dcterms:modified xsi:type="dcterms:W3CDTF">2011-08-01T06:04:30Z</dcterms:modified>
  <cp:revision>1</cp:revision>
  <dc:title>Plan ↓ Code ↓ Test ↓ Release ↓ Feedback ↓ Repeat</dc:title>
</cp:coreProperties>
</file>